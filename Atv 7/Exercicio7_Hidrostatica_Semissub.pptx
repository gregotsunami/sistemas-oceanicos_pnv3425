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02F3793C-F518-DE37-CCA1-BE9EEAFB9BB3}">
          <p14:sldIdLst>
            <p14:sldId id="256"/>
          </p14:sldIdLst>
        </p14:section>
        <p14:section name="Problema" id="{DBE74F2F-D9B8-1F51-86B6-032218E9C3C2}">
          <p14:sldIdLst>
            <p14:sldId id="257"/>
          </p14:sldIdLst>
        </p14:section>
        <p14:section name="Modelo" id="{C28CA7D7-3777-4EFF-926F-FC8FCE0261FC}">
          <p14:sldIdLst>
            <p14:sldId id="258"/>
            <p14:sldId id="264"/>
          </p14:sldIdLst>
        </p14:section>
        <p14:section name="Passo a passo" id="{0C2F5B40-2C51-2EB3-5C10-13C42F043B73}">
          <p14:sldIdLst>
            <p14:sldId id="259"/>
            <p14:sldId id="260"/>
            <p14:sldId id="261"/>
            <p14:sldId id="262"/>
          </p14:sldIdLst>
        </p14:section>
        <p14:section name="Conclusão" id="{C32BC291-4DFE-45E1-962E-50C74F7B19FC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Bicca" userId="24acff8782c9a511" providerId="LiveId" clId="{F8318FC0-0238-4FB2-A699-A08DC495F7BC}"/>
    <pc:docChg chg="undo custSel addSld modSld modSection">
      <pc:chgData name="Eduardo Bicca" userId="24acff8782c9a511" providerId="LiveId" clId="{F8318FC0-0238-4FB2-A699-A08DC495F7BC}" dt="2026-10-28T14:11:46.342" v="81" actId="1076"/>
      <pc:docMkLst>
        <pc:docMk/>
      </pc:docMkLst>
      <pc:sldChg chg="addSp delSp modSp mod">
        <pc:chgData name="Eduardo Bicca" userId="24acff8782c9a511" providerId="LiveId" clId="{F8318FC0-0238-4FB2-A699-A08DC495F7BC}" dt="2026-10-28T14:11:46.342" v="81" actId="1076"/>
        <pc:sldMkLst>
          <pc:docMk/>
          <pc:sldMk cId="0" sldId="258"/>
        </pc:sldMkLst>
        <pc:spChg chg="mod">
          <ac:chgData name="Eduardo Bicca" userId="24acff8782c9a511" providerId="LiveId" clId="{F8318FC0-0238-4FB2-A699-A08DC495F7BC}" dt="2026-10-28T14:08:05.112" v="43" actId="1035"/>
          <ac:spMkLst>
            <pc:docMk/>
            <pc:sldMk cId="0" sldId="258"/>
            <ac:spMk id="2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112" v="43" actId="1035"/>
          <ac:spMkLst>
            <pc:docMk/>
            <pc:sldMk cId="0" sldId="258"/>
            <ac:spMk id="3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298" v="49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298" v="49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298" v="49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298" v="49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298" v="49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298" v="49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298" v="49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298" v="49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298" v="49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298" v="49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334" v="50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334" v="50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334" v="50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334" v="50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334" v="50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334" v="50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386" v="52" actId="688"/>
          <ac:spMkLst>
            <pc:docMk/>
            <pc:sldMk cId="0" sldId="258"/>
            <ac:spMk id="24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434" v="53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434" v="53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434" v="53" actId="107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434" v="53" actId="107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434" v="53" actId="107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434" v="53" actId="1076"/>
          <ac:spMkLst>
            <pc:docMk/>
            <pc:sldMk cId="0" sldId="258"/>
            <ac:spMk id="30" creationId="{00000000-0000-0000-0000-000000000000}"/>
          </ac:spMkLst>
        </pc:spChg>
        <pc:spChg chg="add del">
          <ac:chgData name="Eduardo Bicca" userId="24acff8782c9a511" providerId="LiveId" clId="{F8318FC0-0238-4FB2-A699-A08DC495F7BC}" dt="2026-10-28T14:11:32.973" v="74" actId="478"/>
          <ac:spMkLst>
            <pc:docMk/>
            <pc:sldMk cId="0" sldId="258"/>
            <ac:spMk id="31" creationId="{00000000-0000-0000-0000-000000000000}"/>
          </ac:spMkLst>
        </pc:spChg>
        <pc:spChg chg="add del">
          <ac:chgData name="Eduardo Bicca" userId="24acff8782c9a511" providerId="LiveId" clId="{F8318FC0-0238-4FB2-A699-A08DC495F7BC}" dt="2026-10-28T14:11:32.973" v="74" actId="478"/>
          <ac:spMkLst>
            <pc:docMk/>
            <pc:sldMk cId="0" sldId="258"/>
            <ac:spMk id="32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466" v="54" actId="1076"/>
          <ac:spMkLst>
            <pc:docMk/>
            <pc:sldMk cId="0" sldId="258"/>
            <ac:spMk id="33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466" v="54" actId="1076"/>
          <ac:spMkLst>
            <pc:docMk/>
            <pc:sldMk cId="0" sldId="258"/>
            <ac:spMk id="34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466" v="54" actId="1076"/>
          <ac:spMkLst>
            <pc:docMk/>
            <pc:sldMk cId="0" sldId="258"/>
            <ac:spMk id="35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466" v="54" actId="1076"/>
          <ac:spMkLst>
            <pc:docMk/>
            <pc:sldMk cId="0" sldId="258"/>
            <ac:spMk id="37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466" v="54" actId="1076"/>
          <ac:spMkLst>
            <pc:docMk/>
            <pc:sldMk cId="0" sldId="258"/>
            <ac:spMk id="38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466" v="54" actId="1076"/>
          <ac:spMkLst>
            <pc:docMk/>
            <pc:sldMk cId="0" sldId="258"/>
            <ac:spMk id="40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466" v="54" actId="1076"/>
          <ac:spMkLst>
            <pc:docMk/>
            <pc:sldMk cId="0" sldId="258"/>
            <ac:spMk id="41" creationId="{00000000-0000-0000-0000-000000000000}"/>
          </ac:spMkLst>
        </pc:spChg>
        <pc:spChg chg="mod">
          <ac:chgData name="Eduardo Bicca" userId="24acff8782c9a511" providerId="LiveId" clId="{F8318FC0-0238-4FB2-A699-A08DC495F7BC}" dt="2026-10-28T14:08:05.466" v="54" actId="1076"/>
          <ac:spMkLst>
            <pc:docMk/>
            <pc:sldMk cId="0" sldId="258"/>
            <ac:spMk id="43" creationId="{00000000-0000-0000-0000-000000000000}"/>
          </ac:spMkLst>
        </pc:spChg>
        <pc:picChg chg="mod">
          <ac:chgData name="Eduardo Bicca" userId="24acff8782c9a511" providerId="LiveId" clId="{F8318FC0-0238-4FB2-A699-A08DC495F7BC}" dt="2026-10-28T14:08:05.466" v="54" actId="1076"/>
          <ac:picMkLst>
            <pc:docMk/>
            <pc:sldMk cId="0" sldId="258"/>
            <ac:picMk id="39" creationId="{00000000-0000-0000-0000-000000000000}"/>
          </ac:picMkLst>
        </pc:picChg>
        <pc:picChg chg="mod">
          <ac:chgData name="Eduardo Bicca" userId="24acff8782c9a511" providerId="LiveId" clId="{F8318FC0-0238-4FB2-A699-A08DC495F7BC}" dt="2026-10-28T14:08:05.466" v="54" actId="1076"/>
          <ac:picMkLst>
            <pc:docMk/>
            <pc:sldMk cId="0" sldId="258"/>
            <ac:picMk id="42" creationId="{00000000-0000-0000-0000-000000000000}"/>
          </ac:picMkLst>
        </pc:picChg>
        <pc:picChg chg="add del mod">
          <ac:chgData name="Eduardo Bicca" userId="24acff8782c9a511" providerId="LiveId" clId="{F8318FC0-0238-4FB2-A699-A08DC495F7BC}" dt="2026-10-28T14:08:06.686" v="58" actId="931"/>
          <ac:picMkLst>
            <pc:docMk/>
            <pc:sldMk cId="0" sldId="258"/>
            <ac:picMk id="46" creationId="{9B4E1CA3-C6CD-D4EA-24C9-695A45E4C95E}"/>
          </ac:picMkLst>
        </pc:picChg>
        <pc:picChg chg="add mod">
          <ac:chgData name="Eduardo Bicca" userId="24acff8782c9a511" providerId="LiveId" clId="{F8318FC0-0238-4FB2-A699-A08DC495F7BC}" dt="2026-10-28T14:11:46.342" v="81" actId="1076"/>
          <ac:picMkLst>
            <pc:docMk/>
            <pc:sldMk cId="0" sldId="258"/>
            <ac:picMk id="48" creationId="{35E2774E-B748-269E-6529-03D5341AB676}"/>
          </ac:picMkLst>
        </pc:picChg>
      </pc:sldChg>
      <pc:sldChg chg="addSp delSp modSp add mod">
        <pc:chgData name="Eduardo Bicca" userId="24acff8782c9a511" providerId="LiveId" clId="{F8318FC0-0238-4FB2-A699-A08DC495F7BC}" dt="2026-10-28T14:11:13.255" v="73" actId="1076"/>
        <pc:sldMkLst>
          <pc:docMk/>
          <pc:sldMk cId="448132678" sldId="264"/>
        </pc:sldMkLst>
        <pc:spChg chg="del">
          <ac:chgData name="Eduardo Bicca" userId="24acff8782c9a511" providerId="LiveId" clId="{F8318FC0-0238-4FB2-A699-A08DC495F7BC}" dt="2026-10-28T14:08:16.718" v="61" actId="478"/>
          <ac:spMkLst>
            <pc:docMk/>
            <pc:sldMk cId="448132678" sldId="264"/>
            <ac:spMk id="4" creationId="{CF817FEC-DD0B-DE7F-C343-F27E6EA68407}"/>
          </ac:spMkLst>
        </pc:spChg>
        <pc:spChg chg="del">
          <ac:chgData name="Eduardo Bicca" userId="24acff8782c9a511" providerId="LiveId" clId="{F8318FC0-0238-4FB2-A699-A08DC495F7BC}" dt="2026-10-28T14:08:16.718" v="61" actId="478"/>
          <ac:spMkLst>
            <pc:docMk/>
            <pc:sldMk cId="448132678" sldId="264"/>
            <ac:spMk id="9" creationId="{B946D96D-EFF8-BCE7-C9C2-5663A9C320AD}"/>
          </ac:spMkLst>
        </pc:spChg>
        <pc:spChg chg="del">
          <ac:chgData name="Eduardo Bicca" userId="24acff8782c9a511" providerId="LiveId" clId="{F8318FC0-0238-4FB2-A699-A08DC495F7BC}" dt="2026-10-28T14:08:16.718" v="61" actId="478"/>
          <ac:spMkLst>
            <pc:docMk/>
            <pc:sldMk cId="448132678" sldId="264"/>
            <ac:spMk id="14" creationId="{FD074A67-1B88-097D-B865-B0A5E2763E48}"/>
          </ac:spMkLst>
        </pc:spChg>
        <pc:spChg chg="del">
          <ac:chgData name="Eduardo Bicca" userId="24acff8782c9a511" providerId="LiveId" clId="{F8318FC0-0238-4FB2-A699-A08DC495F7BC}" dt="2026-10-28T14:08:16.718" v="61" actId="478"/>
          <ac:spMkLst>
            <pc:docMk/>
            <pc:sldMk cId="448132678" sldId="264"/>
            <ac:spMk id="17" creationId="{931B9543-28C0-95B9-C30E-2B30D75DA94E}"/>
          </ac:spMkLst>
        </pc:spChg>
        <pc:spChg chg="del">
          <ac:chgData name="Eduardo Bicca" userId="24acff8782c9a511" providerId="LiveId" clId="{F8318FC0-0238-4FB2-A699-A08DC495F7BC}" dt="2026-10-28T14:08:16.718" v="61" actId="478"/>
          <ac:spMkLst>
            <pc:docMk/>
            <pc:sldMk cId="448132678" sldId="264"/>
            <ac:spMk id="19" creationId="{D31A8BFD-13C7-CF19-77E9-0BC66EF11350}"/>
          </ac:spMkLst>
        </pc:spChg>
        <pc:spChg chg="del">
          <ac:chgData name="Eduardo Bicca" userId="24acff8782c9a511" providerId="LiveId" clId="{F8318FC0-0238-4FB2-A699-A08DC495F7BC}" dt="2026-10-28T14:08:16.718" v="61" actId="478"/>
          <ac:spMkLst>
            <pc:docMk/>
            <pc:sldMk cId="448132678" sldId="264"/>
            <ac:spMk id="20" creationId="{22A62624-602F-40E8-4968-14F470CB4D58}"/>
          </ac:spMkLst>
        </pc:spChg>
        <pc:spChg chg="del">
          <ac:chgData name="Eduardo Bicca" userId="24acff8782c9a511" providerId="LiveId" clId="{F8318FC0-0238-4FB2-A699-A08DC495F7BC}" dt="2026-10-28T14:08:16.718" v="61" actId="478"/>
          <ac:spMkLst>
            <pc:docMk/>
            <pc:sldMk cId="448132678" sldId="264"/>
            <ac:spMk id="22" creationId="{38B5FDC9-A20C-EB61-78FF-60970F27737A}"/>
          </ac:spMkLst>
        </pc:spChg>
        <pc:spChg chg="del">
          <ac:chgData name="Eduardo Bicca" userId="24acff8782c9a511" providerId="LiveId" clId="{F8318FC0-0238-4FB2-A699-A08DC495F7BC}" dt="2026-10-28T14:08:16.718" v="61" actId="478"/>
          <ac:spMkLst>
            <pc:docMk/>
            <pc:sldMk cId="448132678" sldId="264"/>
            <ac:spMk id="23" creationId="{97FAAA85-D8D3-FB0A-E495-CF843C5122BE}"/>
          </ac:spMkLst>
        </pc:spChg>
        <pc:spChg chg="del">
          <ac:chgData name="Eduardo Bicca" userId="24acff8782c9a511" providerId="LiveId" clId="{F8318FC0-0238-4FB2-A699-A08DC495F7BC}" dt="2026-10-28T14:08:16.718" v="61" actId="478"/>
          <ac:spMkLst>
            <pc:docMk/>
            <pc:sldMk cId="448132678" sldId="264"/>
            <ac:spMk id="27" creationId="{B8C0FA1B-B2F3-A0B1-B630-9EEE2FBEAEBA}"/>
          </ac:spMkLst>
        </pc:spChg>
        <pc:spChg chg="del">
          <ac:chgData name="Eduardo Bicca" userId="24acff8782c9a511" providerId="LiveId" clId="{F8318FC0-0238-4FB2-A699-A08DC495F7BC}" dt="2026-10-28T14:08:16.718" v="61" actId="478"/>
          <ac:spMkLst>
            <pc:docMk/>
            <pc:sldMk cId="448132678" sldId="264"/>
            <ac:spMk id="30" creationId="{1BD49AEE-66C1-FB2E-C4A1-C73649A5FC87}"/>
          </ac:spMkLst>
        </pc:spChg>
        <pc:spChg chg="del">
          <ac:chgData name="Eduardo Bicca" userId="24acff8782c9a511" providerId="LiveId" clId="{F8318FC0-0238-4FB2-A699-A08DC495F7BC}" dt="2026-10-28T14:08:20.536" v="62" actId="478"/>
          <ac:spMkLst>
            <pc:docMk/>
            <pc:sldMk cId="448132678" sldId="264"/>
            <ac:spMk id="31" creationId="{E7C54E76-CC2E-0836-287F-C487F33A4CA4}"/>
          </ac:spMkLst>
        </pc:spChg>
        <pc:spChg chg="del">
          <ac:chgData name="Eduardo Bicca" userId="24acff8782c9a511" providerId="LiveId" clId="{F8318FC0-0238-4FB2-A699-A08DC495F7BC}" dt="2026-10-28T14:08:20.536" v="62" actId="478"/>
          <ac:spMkLst>
            <pc:docMk/>
            <pc:sldMk cId="448132678" sldId="264"/>
            <ac:spMk id="32" creationId="{A9DCAF6B-6950-DA4D-3F86-F7DF45DA101C}"/>
          </ac:spMkLst>
        </pc:spChg>
        <pc:spChg chg="mod">
          <ac:chgData name="Eduardo Bicca" userId="24acff8782c9a511" providerId="LiveId" clId="{F8318FC0-0238-4FB2-A699-A08DC495F7BC}" dt="2026-10-28T14:11:13.255" v="73" actId="1076"/>
          <ac:spMkLst>
            <pc:docMk/>
            <pc:sldMk cId="448132678" sldId="264"/>
            <ac:spMk id="33" creationId="{8092C550-C563-4A7F-1CB1-C44EB396C0AF}"/>
          </ac:spMkLst>
        </pc:spChg>
        <pc:spChg chg="mod">
          <ac:chgData name="Eduardo Bicca" userId="24acff8782c9a511" providerId="LiveId" clId="{F8318FC0-0238-4FB2-A699-A08DC495F7BC}" dt="2026-10-28T14:11:13.255" v="73" actId="1076"/>
          <ac:spMkLst>
            <pc:docMk/>
            <pc:sldMk cId="448132678" sldId="264"/>
            <ac:spMk id="34" creationId="{67BD9AE4-CB72-411D-3E5A-252D43B5CDC5}"/>
          </ac:spMkLst>
        </pc:spChg>
        <pc:spChg chg="mod">
          <ac:chgData name="Eduardo Bicca" userId="24acff8782c9a511" providerId="LiveId" clId="{F8318FC0-0238-4FB2-A699-A08DC495F7BC}" dt="2026-10-28T14:11:13.255" v="73" actId="1076"/>
          <ac:spMkLst>
            <pc:docMk/>
            <pc:sldMk cId="448132678" sldId="264"/>
            <ac:spMk id="35" creationId="{3A1FCBC7-85F1-26F8-25B5-6E0D1B1F2E14}"/>
          </ac:spMkLst>
        </pc:spChg>
        <pc:spChg chg="mod">
          <ac:chgData name="Eduardo Bicca" userId="24acff8782c9a511" providerId="LiveId" clId="{F8318FC0-0238-4FB2-A699-A08DC495F7BC}" dt="2026-10-28T14:11:13.255" v="73" actId="1076"/>
          <ac:spMkLst>
            <pc:docMk/>
            <pc:sldMk cId="448132678" sldId="264"/>
            <ac:spMk id="37" creationId="{F4BECFBF-994C-DD57-734C-DB7E91135D43}"/>
          </ac:spMkLst>
        </pc:spChg>
        <pc:spChg chg="mod">
          <ac:chgData name="Eduardo Bicca" userId="24acff8782c9a511" providerId="LiveId" clId="{F8318FC0-0238-4FB2-A699-A08DC495F7BC}" dt="2026-10-28T14:11:13.255" v="73" actId="1076"/>
          <ac:spMkLst>
            <pc:docMk/>
            <pc:sldMk cId="448132678" sldId="264"/>
            <ac:spMk id="38" creationId="{04C1247D-69FF-20A8-445C-6B23AEDDC2D6}"/>
          </ac:spMkLst>
        </pc:spChg>
        <pc:spChg chg="mod">
          <ac:chgData name="Eduardo Bicca" userId="24acff8782c9a511" providerId="LiveId" clId="{F8318FC0-0238-4FB2-A699-A08DC495F7BC}" dt="2026-10-28T14:11:13.255" v="73" actId="1076"/>
          <ac:spMkLst>
            <pc:docMk/>
            <pc:sldMk cId="448132678" sldId="264"/>
            <ac:spMk id="40" creationId="{00276353-E9A5-814C-D1EB-7EE18C863ADE}"/>
          </ac:spMkLst>
        </pc:spChg>
        <pc:spChg chg="mod">
          <ac:chgData name="Eduardo Bicca" userId="24acff8782c9a511" providerId="LiveId" clId="{F8318FC0-0238-4FB2-A699-A08DC495F7BC}" dt="2026-10-28T14:11:13.255" v="73" actId="1076"/>
          <ac:spMkLst>
            <pc:docMk/>
            <pc:sldMk cId="448132678" sldId="264"/>
            <ac:spMk id="41" creationId="{32EE9362-E3C9-F108-B925-9A10855DA6BB}"/>
          </ac:spMkLst>
        </pc:spChg>
        <pc:spChg chg="mod">
          <ac:chgData name="Eduardo Bicca" userId="24acff8782c9a511" providerId="LiveId" clId="{F8318FC0-0238-4FB2-A699-A08DC495F7BC}" dt="2026-10-28T14:11:13.255" v="73" actId="1076"/>
          <ac:spMkLst>
            <pc:docMk/>
            <pc:sldMk cId="448132678" sldId="264"/>
            <ac:spMk id="43" creationId="{9683DD30-E2EF-6720-D402-35D8465EAF04}"/>
          </ac:spMkLst>
        </pc:spChg>
        <pc:picChg chg="mod">
          <ac:chgData name="Eduardo Bicca" userId="24acff8782c9a511" providerId="LiveId" clId="{F8318FC0-0238-4FB2-A699-A08DC495F7BC}" dt="2026-10-28T14:11:13.255" v="73" actId="1076"/>
          <ac:picMkLst>
            <pc:docMk/>
            <pc:sldMk cId="448132678" sldId="264"/>
            <ac:picMk id="36" creationId="{9341395E-0D28-9119-3EC7-3A73FD780DA4}"/>
          </ac:picMkLst>
        </pc:picChg>
        <pc:picChg chg="mod">
          <ac:chgData name="Eduardo Bicca" userId="24acff8782c9a511" providerId="LiveId" clId="{F8318FC0-0238-4FB2-A699-A08DC495F7BC}" dt="2026-10-28T14:11:13.255" v="73" actId="1076"/>
          <ac:picMkLst>
            <pc:docMk/>
            <pc:sldMk cId="448132678" sldId="264"/>
            <ac:picMk id="39" creationId="{ADF12569-17B9-DA2F-A68D-4BB04D1B5083}"/>
          </ac:picMkLst>
        </pc:picChg>
        <pc:picChg chg="add mod">
          <ac:chgData name="Eduardo Bicca" userId="24acff8782c9a511" providerId="LiveId" clId="{F8318FC0-0238-4FB2-A699-A08DC495F7BC}" dt="2026-10-28T14:08:52.823" v="69" actId="14100"/>
          <ac:picMkLst>
            <pc:docMk/>
            <pc:sldMk cId="448132678" sldId="264"/>
            <ac:picMk id="46" creationId="{2C768725-ED94-746A-0474-F411C1CB08BD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F3B57"/>
                </a:solidFill>
                <a:latin typeface="+mn-lt"/>
              </a:defRPr>
            </a:pPr>
            <a:r>
              <a:rPr lang="pt-BR" sz="1500" b="0" i="0" u="none" strike="noStrike">
                <a:solidFill>
                  <a:srgbClr val="1F3B57"/>
                </a:solidFill>
                <a:latin typeface="+mn-lt"/>
              </a:rPr>
              <a:t>Composição de ∇ = 58 500 m³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3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4D9-409D-963A-4DEA2F1A2884}"/>
              </c:ext>
            </c:extLst>
          </c:dPt>
          <c:dPt>
            <c:idx val="1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4D9-409D-963A-4DEA2F1A288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5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D9-409D-963A-4DEA2F1A288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5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4D9-409D-963A-4DEA2F1A288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Pontoons</c:v>
                </c:pt>
                <c:pt idx="1">
                  <c:v>Colunas (parte submersa)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45000</c:v>
                </c:pt>
                <c:pt idx="1">
                  <c:v>13500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4D9-409D-963A-4DEA2F1A28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E29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B57"/>
                </a:solidFill>
                <a:latin typeface="+mn-lt"/>
              </a:defRPr>
            </a:pPr>
            <a:r>
              <a:rPr lang="pt-BR" sz="1400" b="0" i="0" u="none" strike="noStrike">
                <a:solidFill>
                  <a:srgbClr val="1F3B57"/>
                </a:solidFill>
                <a:latin typeface="+mn-lt"/>
              </a:rPr>
              <a:t>Cotas (m) em função do calado T (m)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KM</c:v>
                </c:pt>
              </c:strCache>
            </c:strRef>
          </c:tx>
          <c:spPr>
            <a:ln w="31750" cap="flat">
              <a:solidFill>
                <a:srgbClr val="1F3B57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17,5</c:v>
                </c:pt>
                <c:pt idx="1">
                  <c:v>20</c:v>
                </c:pt>
                <c:pt idx="2">
                  <c:v>22,5</c:v>
                </c:pt>
                <c:pt idx="3">
                  <c:v>25</c:v>
                </c:pt>
                <c:pt idx="4">
                  <c:v>27,5</c:v>
                </c:pt>
                <c:pt idx="5">
                  <c:v>30</c:v>
                </c:pt>
                <c:pt idx="6">
                  <c:v>32,5</c:v>
                </c:pt>
                <c:pt idx="7">
                  <c:v>35</c:v>
                </c:pt>
                <c:pt idx="8">
                  <c:v>37,5</c:v>
                </c:pt>
                <c:pt idx="9">
                  <c:v>40</c:v>
                </c:pt>
                <c:pt idx="10">
                  <c:v>42,5</c:v>
                </c:pt>
                <c:pt idx="11">
                  <c:v>45</c:v>
                </c:pt>
                <c:pt idx="12">
                  <c:v>47,5</c:v>
                </c:pt>
                <c:pt idx="13">
                  <c:v>50</c:v>
                </c:pt>
                <c:pt idx="14">
                  <c:v>52,5</c:v>
                </c:pt>
                <c:pt idx="15">
                  <c:v>55</c:v>
                </c:pt>
                <c:pt idx="16">
                  <c:v>57,5</c:v>
                </c:pt>
                <c:pt idx="17">
                  <c:v>60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42.68</c:v>
                </c:pt>
                <c:pt idx="1">
                  <c:v>41.59</c:v>
                </c:pt>
                <c:pt idx="2">
                  <c:v>40.71</c:v>
                </c:pt>
                <c:pt idx="3">
                  <c:v>40</c:v>
                </c:pt>
                <c:pt idx="4">
                  <c:v>39.450000000000003</c:v>
                </c:pt>
                <c:pt idx="5">
                  <c:v>39.04</c:v>
                </c:pt>
                <c:pt idx="6">
                  <c:v>38.75</c:v>
                </c:pt>
                <c:pt idx="7">
                  <c:v>38.57</c:v>
                </c:pt>
                <c:pt idx="8">
                  <c:v>38.49</c:v>
                </c:pt>
                <c:pt idx="9">
                  <c:v>38.5</c:v>
                </c:pt>
                <c:pt idx="10">
                  <c:v>38.590000000000003</c:v>
                </c:pt>
                <c:pt idx="11">
                  <c:v>38.75</c:v>
                </c:pt>
                <c:pt idx="12">
                  <c:v>38.979999999999997</c:v>
                </c:pt>
                <c:pt idx="13">
                  <c:v>39.26</c:v>
                </c:pt>
                <c:pt idx="14">
                  <c:v>39.61</c:v>
                </c:pt>
                <c:pt idx="15">
                  <c:v>40</c:v>
                </c:pt>
                <c:pt idx="16">
                  <c:v>40.44</c:v>
                </c:pt>
                <c:pt idx="17">
                  <c:v>40.92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F9-4511-9B5A-6DB100BBA0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BM</c:v>
                </c:pt>
              </c:strCache>
            </c:strRef>
          </c:tx>
          <c:spPr>
            <a:ln w="31750" cap="flat">
              <a:solidFill>
                <a:srgbClr val="D1495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17,5</c:v>
                </c:pt>
                <c:pt idx="1">
                  <c:v>20</c:v>
                </c:pt>
                <c:pt idx="2">
                  <c:v>22,5</c:v>
                </c:pt>
                <c:pt idx="3">
                  <c:v>25</c:v>
                </c:pt>
                <c:pt idx="4">
                  <c:v>27,5</c:v>
                </c:pt>
                <c:pt idx="5">
                  <c:v>30</c:v>
                </c:pt>
                <c:pt idx="6">
                  <c:v>32,5</c:v>
                </c:pt>
                <c:pt idx="7">
                  <c:v>35</c:v>
                </c:pt>
                <c:pt idx="8">
                  <c:v>37,5</c:v>
                </c:pt>
                <c:pt idx="9">
                  <c:v>40</c:v>
                </c:pt>
                <c:pt idx="10">
                  <c:v>42,5</c:v>
                </c:pt>
                <c:pt idx="11">
                  <c:v>45</c:v>
                </c:pt>
                <c:pt idx="12">
                  <c:v>47,5</c:v>
                </c:pt>
                <c:pt idx="13">
                  <c:v>50</c:v>
                </c:pt>
                <c:pt idx="14">
                  <c:v>52,5</c:v>
                </c:pt>
                <c:pt idx="15">
                  <c:v>55</c:v>
                </c:pt>
                <c:pt idx="16">
                  <c:v>57,5</c:v>
                </c:pt>
                <c:pt idx="17">
                  <c:v>60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34.76</c:v>
                </c:pt>
                <c:pt idx="1">
                  <c:v>33.18</c:v>
                </c:pt>
                <c:pt idx="2">
                  <c:v>31.74</c:v>
                </c:pt>
                <c:pt idx="3">
                  <c:v>30.42</c:v>
                </c:pt>
                <c:pt idx="4">
                  <c:v>29.2</c:v>
                </c:pt>
                <c:pt idx="5">
                  <c:v>28.08</c:v>
                </c:pt>
                <c:pt idx="6">
                  <c:v>27.04</c:v>
                </c:pt>
                <c:pt idx="7">
                  <c:v>26.07</c:v>
                </c:pt>
                <c:pt idx="8">
                  <c:v>25.17</c:v>
                </c:pt>
                <c:pt idx="9">
                  <c:v>24.33</c:v>
                </c:pt>
                <c:pt idx="10">
                  <c:v>23.55</c:v>
                </c:pt>
                <c:pt idx="11">
                  <c:v>22.81</c:v>
                </c:pt>
                <c:pt idx="12">
                  <c:v>22.12</c:v>
                </c:pt>
                <c:pt idx="13">
                  <c:v>21.47</c:v>
                </c:pt>
                <c:pt idx="14">
                  <c:v>20.86</c:v>
                </c:pt>
                <c:pt idx="15">
                  <c:v>20.28</c:v>
                </c:pt>
                <c:pt idx="16">
                  <c:v>19.73</c:v>
                </c:pt>
                <c:pt idx="17">
                  <c:v>19.21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F9-4511-9B5A-6DB100BBA0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KB</c:v>
                </c:pt>
              </c:strCache>
            </c:strRef>
          </c:tx>
          <c:spPr>
            <a:ln w="31750" cap="flat">
              <a:solidFill>
                <a:srgbClr val="E9A23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17,5</c:v>
                </c:pt>
                <c:pt idx="1">
                  <c:v>20</c:v>
                </c:pt>
                <c:pt idx="2">
                  <c:v>22,5</c:v>
                </c:pt>
                <c:pt idx="3">
                  <c:v>25</c:v>
                </c:pt>
                <c:pt idx="4">
                  <c:v>27,5</c:v>
                </c:pt>
                <c:pt idx="5">
                  <c:v>30</c:v>
                </c:pt>
                <c:pt idx="6">
                  <c:v>32,5</c:v>
                </c:pt>
                <c:pt idx="7">
                  <c:v>35</c:v>
                </c:pt>
                <c:pt idx="8">
                  <c:v>37,5</c:v>
                </c:pt>
                <c:pt idx="9">
                  <c:v>40</c:v>
                </c:pt>
                <c:pt idx="10">
                  <c:v>42,5</c:v>
                </c:pt>
                <c:pt idx="11">
                  <c:v>45</c:v>
                </c:pt>
                <c:pt idx="12">
                  <c:v>47,5</c:v>
                </c:pt>
                <c:pt idx="13">
                  <c:v>50</c:v>
                </c:pt>
                <c:pt idx="14">
                  <c:v>52,5</c:v>
                </c:pt>
                <c:pt idx="15">
                  <c:v>55</c:v>
                </c:pt>
                <c:pt idx="16">
                  <c:v>57,5</c:v>
                </c:pt>
                <c:pt idx="17">
                  <c:v>60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7.92</c:v>
                </c:pt>
                <c:pt idx="1">
                  <c:v>8.41</c:v>
                </c:pt>
                <c:pt idx="2">
                  <c:v>8.9700000000000006</c:v>
                </c:pt>
                <c:pt idx="3">
                  <c:v>9.58</c:v>
                </c:pt>
                <c:pt idx="4">
                  <c:v>10.25</c:v>
                </c:pt>
                <c:pt idx="5">
                  <c:v>10.96</c:v>
                </c:pt>
                <c:pt idx="6">
                  <c:v>11.71</c:v>
                </c:pt>
                <c:pt idx="7">
                  <c:v>12.5</c:v>
                </c:pt>
                <c:pt idx="8">
                  <c:v>13.32</c:v>
                </c:pt>
                <c:pt idx="9">
                  <c:v>14.17</c:v>
                </c:pt>
                <c:pt idx="10">
                  <c:v>15.04</c:v>
                </c:pt>
                <c:pt idx="11">
                  <c:v>15.94</c:v>
                </c:pt>
                <c:pt idx="12">
                  <c:v>16.86</c:v>
                </c:pt>
                <c:pt idx="13">
                  <c:v>17.79</c:v>
                </c:pt>
                <c:pt idx="14">
                  <c:v>18.75</c:v>
                </c:pt>
                <c:pt idx="15">
                  <c:v>19.72</c:v>
                </c:pt>
                <c:pt idx="16">
                  <c:v>20.71</c:v>
                </c:pt>
                <c:pt idx="17">
                  <c:v>21.71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5F9-4511-9B5A-6DB100BBA0B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 (cota da LDA)</c:v>
                </c:pt>
              </c:strCache>
            </c:strRef>
          </c:tx>
          <c:spPr>
            <a:ln w="31750" cap="flat">
              <a:solidFill>
                <a:srgbClr val="7A879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17,5</c:v>
                </c:pt>
                <c:pt idx="1">
                  <c:v>20</c:v>
                </c:pt>
                <c:pt idx="2">
                  <c:v>22,5</c:v>
                </c:pt>
                <c:pt idx="3">
                  <c:v>25</c:v>
                </c:pt>
                <c:pt idx="4">
                  <c:v>27,5</c:v>
                </c:pt>
                <c:pt idx="5">
                  <c:v>30</c:v>
                </c:pt>
                <c:pt idx="6">
                  <c:v>32,5</c:v>
                </c:pt>
                <c:pt idx="7">
                  <c:v>35</c:v>
                </c:pt>
                <c:pt idx="8">
                  <c:v>37,5</c:v>
                </c:pt>
                <c:pt idx="9">
                  <c:v>40</c:v>
                </c:pt>
                <c:pt idx="10">
                  <c:v>42,5</c:v>
                </c:pt>
                <c:pt idx="11">
                  <c:v>45</c:v>
                </c:pt>
                <c:pt idx="12">
                  <c:v>47,5</c:v>
                </c:pt>
                <c:pt idx="13">
                  <c:v>50</c:v>
                </c:pt>
                <c:pt idx="14">
                  <c:v>52,5</c:v>
                </c:pt>
                <c:pt idx="15">
                  <c:v>55</c:v>
                </c:pt>
                <c:pt idx="16">
                  <c:v>57,5</c:v>
                </c:pt>
                <c:pt idx="17">
                  <c:v>60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17.5</c:v>
                </c:pt>
                <c:pt idx="1">
                  <c:v>20</c:v>
                </c:pt>
                <c:pt idx="2">
                  <c:v>22.5</c:v>
                </c:pt>
                <c:pt idx="3">
                  <c:v>25</c:v>
                </c:pt>
                <c:pt idx="4">
                  <c:v>27.5</c:v>
                </c:pt>
                <c:pt idx="5">
                  <c:v>30</c:v>
                </c:pt>
                <c:pt idx="6">
                  <c:v>32.5</c:v>
                </c:pt>
                <c:pt idx="7">
                  <c:v>35</c:v>
                </c:pt>
                <c:pt idx="8">
                  <c:v>37.5</c:v>
                </c:pt>
                <c:pt idx="9">
                  <c:v>40</c:v>
                </c:pt>
                <c:pt idx="10">
                  <c:v>42.5</c:v>
                </c:pt>
                <c:pt idx="11">
                  <c:v>45</c:v>
                </c:pt>
                <c:pt idx="12">
                  <c:v>47.5</c:v>
                </c:pt>
                <c:pt idx="13">
                  <c:v>50</c:v>
                </c:pt>
                <c:pt idx="14">
                  <c:v>52.5</c:v>
                </c:pt>
                <c:pt idx="15">
                  <c:v>55</c:v>
                </c:pt>
                <c:pt idx="16">
                  <c:v>57.5</c:v>
                </c:pt>
                <c:pt idx="17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5F9-4511-9B5A-6DB100BBA0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79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D5DE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79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9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559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Objetivo: construir um modelo paramétrico que, a partir das 6 dimensões principais da semissubmersível, calcule volume deslocado, deslocamento, KB, BM e KM. Vamos mostrar o passo a passo, as fórmulas, o código e como verificamos os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plataforma tem 2 pontoons retangulares e 4 colunas quadradas. Pela vista em planta, a dimensão global é Lp nas duas direções, então a planta é quadrada. Hipótese central: o calado está entre o topo do pontoon e o topo da coluna, então o pontoon está todo submerso e só as colunas atravessam a linha d'água. Com T = 30 m isso é atendido (15 &lt; 30 ≤ 60). A restrição do enunciado bc ≤ bp também é atendida (15 = 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é uma única função Python com as 6 dimensões e a densidade como argumentos. As etapas são encadeadas: o volume alimenta KB e BM, e KM é a soma dos dois. O código no slide é a versão resumida do notebook; a lógica é idêntica.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17D62-FBA5-4489-E887-A3ED72C1F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A69D4-DC74-8393-A6EC-538AABD04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D2764-1A62-0CB4-8FE4-A8339847D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é uma única função Python com as 6 dimensões e a densidade como argumentos. As etapas são encadeadas: o volume alimenta KB e BM, e KM é a soma dos dois. O código no slide é a versão resumida do notebook; a lógica é idêntica.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3477C-ADAA-6F90-5D9E-8E68F6067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41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Volume deslocado: os dois pontoons estão inteiros na água, 45 000 m³. As colunas só contribuem com a parte submersa, de hp até T, ou seja 15 m cada: 13 500 m³. Total 58 500 m³; com rho = 1,025 t/m³, o deslocamento é 59 962,5 t. Ponto pragmático: 77% do empuxo está nos pontoons, longe da superfície, o que reduz as forças de onda.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KB é a cota do centróide do volume submerso. Como o volume é composto, usamos a média ponderada (momento estático): o pontoon tem centróide a hp/2 = 7,5 m e a parte submersa das colunas a hp + (T - hp)/2 = 22,5 m. Resultado KB = 10,96 m, dentro do pontoon, porque 77% do volume está lá.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BM = I/∇, em que I é o momento de inércia do plano de flutuação. Os pontoons estão submersos, então o plano de flutuação é só a seção das 4 colunas: 900 m². Pelo teorema de Steiner, cada coluna contribui com sua inércia própria bc^4/12 mais área vezes d², com d = 42,5 m. O termo de transporte é 99% do total: a estabilidade de uma semi vem de afastar as colunas, não de aumentar a área. Como a planta é quadrada e bc = bp, o braço é igual nas duas direções e BM transversal = BM longitudinal = 28,08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KM = KB + BM = 10,96 + 28,08 = 39,04 m, ou seja, o metacentro fica 9 m acima da linha d'água. Verificamos: (1) refizemos as contas à mão e batem com o notebook; (2) a geometria respeita as restrições do enunciado; (3) a ordem dos pontos K, B, LDA, M é fisicamente coerente. Atenção: KM não é a altura metacêntrica. A altura metacêntrica é GM = KM - KG e depende da distribuição de pesos, que não faz parte deste exercício.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 modelo paramétrico varremos o calado entre hp e hp + hc. KB cresce porque somamos volume acima; BM cai porque a inércia do plano de flutuação não muda (só colunas) enquanto o volume aumenta. Derivando: dKM/dT = (A_WP/∇)(T - KM). Logo KM tem mínimo exatamente quando o metacentro está na linha d'água: T* ≈ 38,5 m. No nosso ponto, T = 30 m, KM ainda está caindo com o calado (cerca de -0,14 m por metro). Para aumentar KM, a alavanca mais eficiente é afastar as colunas (d²). O próximo passo natural é o KG para obter GM e a curva de estabilidade.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F3B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828800"/>
            <a:ext cx="60350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703320"/>
            <a:ext cx="58521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rgbClr val="CADCE8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b="1" kern="0" spc="2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793"/>
                </a:solidFill>
              </a:rPr>
              <a:t>PNV3425 · Exercício 7 — Propriedades hidrostáticas de plataforma semissubmersível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79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79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PNV3425 · PROJETO DE SISTEMAS OCEÂNICOS · EXERCÍCIO 7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8288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paramétrico de propriedades hidrostáticas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7033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ADCE8"/>
                </a:solidFill>
              </a:rPr>
              <a:t>Plataforma semissubmersível: ∇, Δ, KB, BM e KM</a:t>
            </a:r>
            <a:endParaRPr lang="en-US" sz="2000" dirty="0"/>
          </a:p>
        </p:txBody>
      </p:sp>
      <p:pic>
        <p:nvPicPr>
          <p:cNvPr id="5" name="render 3D" descr="Render 3D da semissubmersível: 2 pontoons, 4 colunas e o plano da linha d'águ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417320"/>
            <a:ext cx="5257800" cy="31254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617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257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E8"/>
                </a:solidFill>
              </a:rPr>
              <a:t>parâmetros de entrada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606040" y="4617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2606040" y="5257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E8"/>
                </a:solidFill>
              </a:rPr>
              <a:t>etapas de cálculo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4617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5257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E8"/>
                </a:solidFill>
              </a:rPr>
              <a:t>função em Python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4D6"/>
                </a:solidFill>
              </a:rPr>
              <a:t>Eduardo Bicca · João Pedro Boreli · Taumanni   |   Escola Politécnica da USP · 28/10/2026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ENUNCIADO E HIPÓTESES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problema: 6 dimensões definem a hidrostática</a:t>
            </a:r>
            <a:endParaRPr lang="en-US" sz="3400" dirty="0"/>
          </a:p>
        </p:txBody>
      </p:sp>
      <p:pic>
        <p:nvPicPr>
          <p:cNvPr id="4" name="vistas" descr="Vista lateral e em planta com as dimensões Lp, bp, hp, bc, hc e 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7223760" cy="2071032"/>
          </a:xfrm>
          <a:prstGeom prst="rect">
            <a:avLst/>
          </a:prstGeom>
        </p:spPr>
      </p:pic>
      <p:sp>
        <p:nvSpPr>
          <p:cNvPr id="5" name="entrada L_p"/>
          <p:cNvSpPr/>
          <p:nvPr/>
        </p:nvSpPr>
        <p:spPr>
          <a:xfrm>
            <a:off x="548640" y="3886200"/>
            <a:ext cx="950976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48640" y="3977640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r>
              <a:rPr lang="en-US" sz="2000" b="1" baseline="-25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89120"/>
            <a:ext cx="950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100 m</a:t>
            </a:r>
            <a:endParaRPr lang="en-US" sz="1400" dirty="0"/>
          </a:p>
        </p:txBody>
      </p:sp>
      <p:sp>
        <p:nvSpPr>
          <p:cNvPr id="8" name="entrada b_p"/>
          <p:cNvSpPr/>
          <p:nvPr/>
        </p:nvSpPr>
        <p:spPr>
          <a:xfrm>
            <a:off x="1591056" y="3886200"/>
            <a:ext cx="950976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591056" y="3977640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en-US" sz="2000" b="1" baseline="-25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591056" y="4389120"/>
            <a:ext cx="950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15 m</a:t>
            </a:r>
            <a:endParaRPr lang="en-US" sz="1400" dirty="0"/>
          </a:p>
        </p:txBody>
      </p:sp>
      <p:sp>
        <p:nvSpPr>
          <p:cNvPr id="11" name="entrada h_p"/>
          <p:cNvSpPr/>
          <p:nvPr/>
        </p:nvSpPr>
        <p:spPr>
          <a:xfrm>
            <a:off x="2633472" y="3886200"/>
            <a:ext cx="950976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2633472" y="3977640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r>
              <a:rPr lang="en-US" sz="2000" b="1" baseline="-25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2633472" y="4389120"/>
            <a:ext cx="950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15 m</a:t>
            </a:r>
            <a:endParaRPr lang="en-US" sz="1400" dirty="0"/>
          </a:p>
        </p:txBody>
      </p:sp>
      <p:sp>
        <p:nvSpPr>
          <p:cNvPr id="14" name="entrada b_c"/>
          <p:cNvSpPr/>
          <p:nvPr/>
        </p:nvSpPr>
        <p:spPr>
          <a:xfrm>
            <a:off x="3675888" y="3886200"/>
            <a:ext cx="950976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3675888" y="3977640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en-US" sz="2000" b="1" baseline="-25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3675888" y="4389120"/>
            <a:ext cx="950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15 m</a:t>
            </a:r>
            <a:endParaRPr lang="en-US" sz="1400" dirty="0"/>
          </a:p>
        </p:txBody>
      </p:sp>
      <p:sp>
        <p:nvSpPr>
          <p:cNvPr id="17" name="entrada h_c"/>
          <p:cNvSpPr/>
          <p:nvPr/>
        </p:nvSpPr>
        <p:spPr>
          <a:xfrm>
            <a:off x="4718304" y="3886200"/>
            <a:ext cx="950976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718304" y="3977640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r>
              <a:rPr lang="en-US" sz="2000" b="1" baseline="-25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4718304" y="4389120"/>
            <a:ext cx="950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45 m</a:t>
            </a:r>
            <a:endParaRPr lang="en-US" sz="1400" dirty="0"/>
          </a:p>
        </p:txBody>
      </p:sp>
      <p:sp>
        <p:nvSpPr>
          <p:cNvPr id="20" name="entrada T"/>
          <p:cNvSpPr/>
          <p:nvPr/>
        </p:nvSpPr>
        <p:spPr>
          <a:xfrm>
            <a:off x="5760720" y="3886200"/>
            <a:ext cx="950976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5760720" y="3977640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5760720" y="4389120"/>
            <a:ext cx="950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30 m</a:t>
            </a:r>
            <a:endParaRPr lang="en-US" sz="1400" dirty="0"/>
          </a:p>
        </p:txBody>
      </p:sp>
      <p:sp>
        <p:nvSpPr>
          <p:cNvPr id="23" name="entrada ρ"/>
          <p:cNvSpPr/>
          <p:nvPr/>
        </p:nvSpPr>
        <p:spPr>
          <a:xfrm>
            <a:off x="6803136" y="3886200"/>
            <a:ext cx="1179576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6803136" y="3977640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6803136" y="438912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E8"/>
                </a:solidFill>
              </a:rPr>
              <a:t>1,025 t/m³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0292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Saídas pedidas:  </a:t>
            </a: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 e Δ  ·  KB  ·  BM  ·  KM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4864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ρ da água salgada é dado nosso (não vem no enunciado). Tudo em m, m³ e t.</a:t>
            </a:r>
            <a:endParaRPr lang="en-US" sz="1300" dirty="0"/>
          </a:p>
        </p:txBody>
      </p:sp>
      <p:sp>
        <p:nvSpPr>
          <p:cNvPr id="28" name="hipoteses"/>
          <p:cNvSpPr/>
          <p:nvPr/>
        </p:nvSpPr>
        <p:spPr>
          <a:xfrm>
            <a:off x="8183880" y="1600200"/>
            <a:ext cx="3474720" cy="45720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84124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Hipóteses do modelo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2240280"/>
            <a:ext cx="3063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chemeClr val="tx1"/>
                </a:solidFill>
              </a:rPr>
              <a:t>Pontoons submersos e colunas cortando a LDA: h</a:t>
            </a:r>
            <a:r>
              <a:rPr lang="en-US" sz="1400" baseline="-25000" dirty="0">
                <a:solidFill>
                  <a:schemeClr val="tx1"/>
                </a:solidFill>
              </a:rPr>
              <a:t>p</a:t>
            </a:r>
            <a:r>
              <a:rPr lang="en-US" sz="1400" dirty="0">
                <a:solidFill>
                  <a:schemeClr val="tx1"/>
                </a:solidFill>
              </a:rPr>
              <a:t> &lt; T ≤ h</a:t>
            </a:r>
            <a:r>
              <a:rPr lang="en-US" sz="1400" baseline="-25000" dirty="0">
                <a:solidFill>
                  <a:schemeClr val="tx1"/>
                </a:solidFill>
              </a:rPr>
              <a:t>p</a:t>
            </a:r>
            <a:r>
              <a:rPr lang="en-US" sz="1400" dirty="0">
                <a:solidFill>
                  <a:schemeClr val="tx1"/>
                </a:solidFill>
              </a:rPr>
              <a:t> + h</a:t>
            </a:r>
            <a:r>
              <a:rPr lang="en-US" sz="1400" baseline="-25000" dirty="0">
                <a:solidFill>
                  <a:schemeClr val="tx1"/>
                </a:solidFill>
              </a:rPr>
              <a:t>c</a:t>
            </a:r>
            <a:r>
              <a:rPr lang="en-US" sz="1400" dirty="0">
                <a:solidFill>
                  <a:schemeClr val="tx1"/>
                </a:solidFill>
              </a:rPr>
              <a:t>  (15 &lt; 30 ≤ 60)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Colunas nas extremidades dos pontoons, com b</a:t>
            </a:r>
            <a:r>
              <a:rPr lang="en-US" sz="1400" baseline="-25000" dirty="0">
                <a:solidFill>
                  <a:schemeClr val="tx1"/>
                </a:solidFill>
              </a:rPr>
              <a:t>c</a:t>
            </a:r>
            <a:r>
              <a:rPr lang="en-US" sz="1400" dirty="0">
                <a:solidFill>
                  <a:schemeClr val="tx1"/>
                </a:solidFill>
              </a:rPr>
              <a:t> ≤ b</a:t>
            </a:r>
            <a:r>
              <a:rPr lang="en-US" sz="1400" baseline="-25000" dirty="0">
                <a:solidFill>
                  <a:schemeClr val="tx1"/>
                </a:solidFill>
              </a:rPr>
              <a:t>p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Planta quadrada: dimensão global L</a:t>
            </a:r>
            <a:r>
              <a:rPr lang="en-US" sz="1400" baseline="-25000" dirty="0">
                <a:solidFill>
                  <a:schemeClr val="tx1"/>
                </a:solidFill>
              </a:rPr>
              <a:t>p</a:t>
            </a:r>
            <a:r>
              <a:rPr lang="en-US" sz="1400" dirty="0">
                <a:solidFill>
                  <a:schemeClr val="tx1"/>
                </a:solidFill>
              </a:rPr>
              <a:t> nas duas direções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Costado vertical: área de flutuação constante no intervalo de calado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Sem contraventamentos, apêndices ou cantos arredondados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79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ESTRUTURA DO CÓDIGO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função, quatro etapas encadeadas</a:t>
            </a:r>
            <a:endParaRPr lang="en-US" sz="3400" dirty="0"/>
          </a:p>
        </p:txBody>
      </p:sp>
      <p:sp>
        <p:nvSpPr>
          <p:cNvPr id="4" name="etapa 1"/>
          <p:cNvSpPr/>
          <p:nvPr/>
        </p:nvSpPr>
        <p:spPr>
          <a:xfrm>
            <a:off x="548640" y="1600200"/>
            <a:ext cx="25146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num1"/>
          <p:cNvSpPr/>
          <p:nvPr/>
        </p:nvSpPr>
        <p:spPr>
          <a:xfrm>
            <a:off x="731520" y="17830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783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Volume e deslocamento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 = ∇</a:t>
            </a:r>
            <a:r>
              <a:rPr lang="en-US" sz="1800" baseline="-25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∇</a:t>
            </a:r>
            <a:r>
              <a:rPr lang="en-US" sz="1800" baseline="-25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072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58 500 m³</a:t>
            </a:r>
            <a:endParaRPr lang="en-US" sz="2400" dirty="0"/>
          </a:p>
        </p:txBody>
      </p:sp>
      <p:sp>
        <p:nvSpPr>
          <p:cNvPr id="10" name="seta0"/>
          <p:cNvSpPr/>
          <p:nvPr/>
        </p:nvSpPr>
        <p:spPr>
          <a:xfrm>
            <a:off x="3154680" y="2377440"/>
            <a:ext cx="182880" cy="320040"/>
          </a:xfrm>
          <a:prstGeom prst="chevron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etapa 2"/>
          <p:cNvSpPr/>
          <p:nvPr/>
        </p:nvSpPr>
        <p:spPr>
          <a:xfrm>
            <a:off x="3429000" y="1600200"/>
            <a:ext cx="25146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num2"/>
          <p:cNvSpPr/>
          <p:nvPr/>
        </p:nvSpPr>
        <p:spPr>
          <a:xfrm>
            <a:off x="3611880" y="17830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6118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142232" y="1783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Centro de carena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23317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 = Σ∇</a:t>
            </a:r>
            <a:r>
              <a:rPr lang="en-US" sz="1800" baseline="-25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·kb</a:t>
            </a:r>
            <a:r>
              <a:rPr lang="en-US" sz="1800" baseline="-25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∇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28072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10,96 m</a:t>
            </a:r>
            <a:endParaRPr lang="en-US" sz="2400" dirty="0"/>
          </a:p>
        </p:txBody>
      </p:sp>
      <p:sp>
        <p:nvSpPr>
          <p:cNvPr id="17" name="seta1"/>
          <p:cNvSpPr/>
          <p:nvPr/>
        </p:nvSpPr>
        <p:spPr>
          <a:xfrm>
            <a:off x="6035040" y="2377440"/>
            <a:ext cx="182880" cy="320040"/>
          </a:xfrm>
          <a:prstGeom prst="chevron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etapa 3"/>
          <p:cNvSpPr/>
          <p:nvPr/>
        </p:nvSpPr>
        <p:spPr>
          <a:xfrm>
            <a:off x="6309360" y="1600200"/>
            <a:ext cx="25146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num3"/>
          <p:cNvSpPr/>
          <p:nvPr/>
        </p:nvSpPr>
        <p:spPr>
          <a:xfrm>
            <a:off x="6492240" y="17830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922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22592" y="1783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Raio metacêntrico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3317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 = I</a:t>
            </a:r>
            <a:r>
              <a:rPr lang="en-US" sz="1800" baseline="-25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</a:t>
            </a: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∇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28072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28,08 m</a:t>
            </a:r>
            <a:endParaRPr lang="en-US" sz="2400" dirty="0"/>
          </a:p>
        </p:txBody>
      </p:sp>
      <p:sp>
        <p:nvSpPr>
          <p:cNvPr id="24" name="seta2"/>
          <p:cNvSpPr/>
          <p:nvPr/>
        </p:nvSpPr>
        <p:spPr>
          <a:xfrm>
            <a:off x="8915400" y="2377440"/>
            <a:ext cx="182880" cy="320040"/>
          </a:xfrm>
          <a:prstGeom prst="chevron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etapa 4"/>
          <p:cNvSpPr/>
          <p:nvPr/>
        </p:nvSpPr>
        <p:spPr>
          <a:xfrm>
            <a:off x="9189720" y="1600200"/>
            <a:ext cx="2514600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num4"/>
          <p:cNvSpPr/>
          <p:nvPr/>
        </p:nvSpPr>
        <p:spPr>
          <a:xfrm>
            <a:off x="9372600" y="17830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3726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902952" y="1783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Metacentro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372600" y="23317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 = KB + BM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372600" y="28072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39,04 m</a:t>
            </a:r>
            <a:endParaRPr lang="en-US" sz="2400" dirty="0"/>
          </a:p>
        </p:txBody>
      </p:sp>
      <p:sp>
        <p:nvSpPr>
          <p:cNvPr id="33" name="por que parametrico"/>
          <p:cNvSpPr/>
          <p:nvPr/>
        </p:nvSpPr>
        <p:spPr>
          <a:xfrm>
            <a:off x="7772400" y="3794760"/>
            <a:ext cx="388620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00100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paramétrico?</a:t>
            </a:r>
            <a:endParaRPr lang="en-US" sz="1800" dirty="0"/>
          </a:p>
        </p:txBody>
      </p:sp>
      <p:sp>
        <p:nvSpPr>
          <p:cNvPr id="35" name="icone0"/>
          <p:cNvSpPr/>
          <p:nvPr/>
        </p:nvSpPr>
        <p:spPr>
          <a:xfrm>
            <a:off x="8001000" y="44348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cone img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26280"/>
            <a:ext cx="201168" cy="201168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8503920" y="4389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Entradas = parâmetros do enunciado; nenhuma constante escondida</a:t>
            </a:r>
            <a:endParaRPr lang="en-US" sz="1400" dirty="0"/>
          </a:p>
        </p:txBody>
      </p:sp>
      <p:sp>
        <p:nvSpPr>
          <p:cNvPr id="38" name="icone1"/>
          <p:cNvSpPr/>
          <p:nvPr/>
        </p:nvSpPr>
        <p:spPr>
          <a:xfrm>
            <a:off x="8001000" y="50017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cone img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093208"/>
            <a:ext cx="201168" cy="201168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8503920" y="49560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Nova alternativa de projeto = trocar os 6 números e rodar</a:t>
            </a:r>
            <a:endParaRPr lang="en-US" sz="1400" dirty="0"/>
          </a:p>
        </p:txBody>
      </p:sp>
      <p:sp>
        <p:nvSpPr>
          <p:cNvPr id="41" name="icone2"/>
          <p:cNvSpPr/>
          <p:nvPr/>
        </p:nvSpPr>
        <p:spPr>
          <a:xfrm>
            <a:off x="8001000" y="55686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cone img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5660136"/>
            <a:ext cx="201168" cy="201168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8503920" y="55229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Permite varrer o espaço de projeto (slide 8)</a:t>
            </a:r>
            <a:endParaRPr lang="en-US" sz="14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79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5E2774E-B748-269E-6529-03D5341AB6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220" y="3785616"/>
            <a:ext cx="6547319" cy="2504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ED647-DACB-F9A6-C496-A033D5DF9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9CD025D-215D-978F-1CD7-BA2FAB9DCB99}"/>
              </a:ext>
            </a:extLst>
          </p:cNvPr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ESTRUTURA DO CÓDIGO</a:t>
            </a:r>
            <a:endParaRPr lang="en-US" sz="13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0C447F0-CA23-16A4-EBD9-7B5A035FAEB9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função, quatro etapas encadeadas</a:t>
            </a:r>
            <a:endParaRPr lang="en-US" sz="3400" dirty="0"/>
          </a:p>
        </p:txBody>
      </p:sp>
      <p:sp>
        <p:nvSpPr>
          <p:cNvPr id="33" name="por que parametrico">
            <a:extLst>
              <a:ext uri="{FF2B5EF4-FFF2-40B4-BE49-F238E27FC236}">
                <a16:creationId xmlns:a16="http://schemas.microsoft.com/office/drawing/2014/main" id="{8092C550-C563-4A7F-1CB1-C44EB396C0AF}"/>
              </a:ext>
            </a:extLst>
          </p:cNvPr>
          <p:cNvSpPr/>
          <p:nvPr/>
        </p:nvSpPr>
        <p:spPr>
          <a:xfrm>
            <a:off x="6654800" y="1344168"/>
            <a:ext cx="42875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7BD9AE4-CB72-411D-3E5A-252D43B5CDC5}"/>
              </a:ext>
            </a:extLst>
          </p:cNvPr>
          <p:cNvSpPr txBox="1"/>
          <p:nvPr/>
        </p:nvSpPr>
        <p:spPr>
          <a:xfrm>
            <a:off x="6883400" y="1481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paramétrico?</a:t>
            </a:r>
            <a:endParaRPr lang="en-US" sz="1800" dirty="0"/>
          </a:p>
        </p:txBody>
      </p:sp>
      <p:sp>
        <p:nvSpPr>
          <p:cNvPr id="35" name="icone0">
            <a:extLst>
              <a:ext uri="{FF2B5EF4-FFF2-40B4-BE49-F238E27FC236}">
                <a16:creationId xmlns:a16="http://schemas.microsoft.com/office/drawing/2014/main" id="{3A1FCBC7-85F1-26F8-25B5-6E0D1B1F2E14}"/>
              </a:ext>
            </a:extLst>
          </p:cNvPr>
          <p:cNvSpPr/>
          <p:nvPr/>
        </p:nvSpPr>
        <p:spPr>
          <a:xfrm>
            <a:off x="6883400" y="19842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cone img0" descr="preencoded.png">
            <a:extLst>
              <a:ext uri="{FF2B5EF4-FFF2-40B4-BE49-F238E27FC236}">
                <a16:creationId xmlns:a16="http://schemas.microsoft.com/office/drawing/2014/main" id="{9341395E-0D28-9119-3EC7-3A73FD780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840" y="2075688"/>
            <a:ext cx="201168" cy="201168"/>
          </a:xfrm>
          <a:prstGeom prst="rect">
            <a:avLst/>
          </a:prstGeom>
        </p:spPr>
      </p:pic>
      <p:sp>
        <p:nvSpPr>
          <p:cNvPr id="37" name="Text 34">
            <a:extLst>
              <a:ext uri="{FF2B5EF4-FFF2-40B4-BE49-F238E27FC236}">
                <a16:creationId xmlns:a16="http://schemas.microsoft.com/office/drawing/2014/main" id="{F4BECFBF-994C-DD57-734C-DB7E91135D43}"/>
              </a:ext>
            </a:extLst>
          </p:cNvPr>
          <p:cNvSpPr txBox="1"/>
          <p:nvPr/>
        </p:nvSpPr>
        <p:spPr>
          <a:xfrm>
            <a:off x="7386320" y="19385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Entradas = parâmetros do enunciado; nenhuma constante escondida</a:t>
            </a:r>
            <a:endParaRPr lang="en-US" sz="1400" dirty="0"/>
          </a:p>
        </p:txBody>
      </p:sp>
      <p:sp>
        <p:nvSpPr>
          <p:cNvPr id="38" name="icone1">
            <a:extLst>
              <a:ext uri="{FF2B5EF4-FFF2-40B4-BE49-F238E27FC236}">
                <a16:creationId xmlns:a16="http://schemas.microsoft.com/office/drawing/2014/main" id="{04C1247D-69FF-20A8-445C-6B23AEDDC2D6}"/>
              </a:ext>
            </a:extLst>
          </p:cNvPr>
          <p:cNvSpPr/>
          <p:nvPr/>
        </p:nvSpPr>
        <p:spPr>
          <a:xfrm>
            <a:off x="6883400" y="25511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cone img1" descr="preencoded.png">
            <a:extLst>
              <a:ext uri="{FF2B5EF4-FFF2-40B4-BE49-F238E27FC236}">
                <a16:creationId xmlns:a16="http://schemas.microsoft.com/office/drawing/2014/main" id="{ADF12569-17B9-DA2F-A68D-4BB04D1B5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840" y="2642616"/>
            <a:ext cx="201168" cy="201168"/>
          </a:xfrm>
          <a:prstGeom prst="rect">
            <a:avLst/>
          </a:prstGeom>
        </p:spPr>
      </p:pic>
      <p:sp>
        <p:nvSpPr>
          <p:cNvPr id="40" name="Text 36">
            <a:extLst>
              <a:ext uri="{FF2B5EF4-FFF2-40B4-BE49-F238E27FC236}">
                <a16:creationId xmlns:a16="http://schemas.microsoft.com/office/drawing/2014/main" id="{00276353-E9A5-814C-D1EB-7EE18C863ADE}"/>
              </a:ext>
            </a:extLst>
          </p:cNvPr>
          <p:cNvSpPr txBox="1"/>
          <p:nvPr/>
        </p:nvSpPr>
        <p:spPr>
          <a:xfrm>
            <a:off x="7386320" y="25054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Nova alternativa de projeto = trocar os 6 números e rodar</a:t>
            </a:r>
            <a:endParaRPr lang="en-US" sz="1400" dirty="0"/>
          </a:p>
        </p:txBody>
      </p:sp>
      <p:sp>
        <p:nvSpPr>
          <p:cNvPr id="41" name="icone2">
            <a:extLst>
              <a:ext uri="{FF2B5EF4-FFF2-40B4-BE49-F238E27FC236}">
                <a16:creationId xmlns:a16="http://schemas.microsoft.com/office/drawing/2014/main" id="{32EE9362-E3C9-F108-B925-9A10855DA6BB}"/>
              </a:ext>
            </a:extLst>
          </p:cNvPr>
          <p:cNvSpPr/>
          <p:nvPr/>
        </p:nvSpPr>
        <p:spPr>
          <a:xfrm>
            <a:off x="6883400" y="31181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cone img2" descr="preencoded.png">
            <a:extLst>
              <a:ext uri="{FF2B5EF4-FFF2-40B4-BE49-F238E27FC236}">
                <a16:creationId xmlns:a16="http://schemas.microsoft.com/office/drawing/2014/main" id="{B18984E2-BF4E-67E2-9CC9-AF25438FD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4840" y="3209544"/>
            <a:ext cx="201168" cy="201168"/>
          </a:xfrm>
          <a:prstGeom prst="rect">
            <a:avLst/>
          </a:prstGeom>
        </p:spPr>
      </p:pic>
      <p:sp>
        <p:nvSpPr>
          <p:cNvPr id="43" name="Text 38">
            <a:extLst>
              <a:ext uri="{FF2B5EF4-FFF2-40B4-BE49-F238E27FC236}">
                <a16:creationId xmlns:a16="http://schemas.microsoft.com/office/drawing/2014/main" id="{9683DD30-E2EF-6720-D402-35D8465EAF04}"/>
              </a:ext>
            </a:extLst>
          </p:cNvPr>
          <p:cNvSpPr txBox="1"/>
          <p:nvPr/>
        </p:nvSpPr>
        <p:spPr>
          <a:xfrm>
            <a:off x="7386320" y="3072384"/>
            <a:ext cx="327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Permite varrer o espaço de projeto (slide 8)</a:t>
            </a:r>
            <a:endParaRPr lang="en-US" sz="1400" dirty="0"/>
          </a:p>
        </p:txBody>
      </p:sp>
      <p:sp>
        <p:nvSpPr>
          <p:cNvPr id="44" name="Slide Number Placeholder 0">
            <a:extLst>
              <a:ext uri="{FF2B5EF4-FFF2-40B4-BE49-F238E27FC236}">
                <a16:creationId xmlns:a16="http://schemas.microsoft.com/office/drawing/2014/main" id="{89D7D400-B4D3-43DC-2079-71BE27A62AD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C768725-ED94-746A-0474-F411C1CB08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440" y="1344168"/>
            <a:ext cx="5186855" cy="499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132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PASSO 1 · VOLUME DESLOCADO E DESLOCAMENTO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 e Δ: o empuxo está nos pontoons</a:t>
            </a:r>
            <a:endParaRPr lang="en-US" sz="3400" dirty="0"/>
          </a:p>
        </p:txBody>
      </p:sp>
      <p:sp>
        <p:nvSpPr>
          <p:cNvPr id="4" name="formulas passo 1"/>
          <p:cNvSpPr/>
          <p:nvPr/>
        </p:nvSpPr>
        <p:spPr>
          <a:xfrm>
            <a:off x="548640" y="1600200"/>
            <a:ext cx="667512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10512"/>
            <a:ext cx="6309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r>
              <a:rPr lang="en-US" sz="20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2·L</a:t>
            </a:r>
            <a:r>
              <a:rPr lang="en-US" sz="20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·b</a:t>
            </a:r>
            <a:r>
              <a:rPr lang="en-US" sz="20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·h</a:t>
            </a:r>
            <a:r>
              <a:rPr lang="en-US" sz="20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2·100·15·15 = </a:t>
            </a:r>
            <a:r>
              <a:rPr lang="en-US" sz="2000" b="1" dirty="0">
                <a:solidFill>
                  <a:srgbClr val="D14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45 000 m³</a:t>
            </a:r>
            <a:endParaRPr lang="en-US" sz="2000" dirty="0"/>
          </a:p>
          <a:p>
            <a:pPr marL="0" indent="0">
              <a:spcBef>
                <a:spcPts val="1600"/>
              </a:spcBef>
              <a:buNone/>
            </a:pPr>
            <a:r>
              <a:rPr lang="en-US" sz="2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r>
              <a:rPr lang="en-US" sz="20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2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4·b</a:t>
            </a:r>
            <a:r>
              <a:rPr lang="en-US" sz="20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2000" baseline="30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·(T − h</a:t>
            </a:r>
            <a:r>
              <a:rPr lang="en-US" sz="20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4·15</a:t>
            </a:r>
            <a:r>
              <a:rPr lang="en-US" sz="2000" baseline="30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·15 = </a:t>
            </a:r>
            <a:r>
              <a:rPr lang="en-US" sz="2000" b="1" dirty="0">
                <a:solidFill>
                  <a:srgbClr val="D14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13 500 m³</a:t>
            </a:r>
            <a:endParaRPr lang="en-US" sz="2000" dirty="0"/>
          </a:p>
          <a:p>
            <a:pPr marL="0" indent="0">
              <a:spcBef>
                <a:spcPts val="1600"/>
              </a:spcBef>
              <a:buNone/>
            </a:pPr>
            <a:r>
              <a:rPr lang="en-US" sz="2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 = ∇</a:t>
            </a:r>
            <a:r>
              <a:rPr lang="en-US" sz="20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∇</a:t>
            </a:r>
            <a:r>
              <a:rPr lang="en-US" sz="20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2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en-US" sz="2000" b="1" dirty="0">
                <a:solidFill>
                  <a:srgbClr val="D14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58 500 m³</a:t>
            </a:r>
            <a:endParaRPr lang="en-US" sz="2000" dirty="0"/>
          </a:p>
          <a:p>
            <a:pPr marL="0" indent="0">
              <a:spcBef>
                <a:spcPts val="1600"/>
              </a:spcBef>
              <a:buNone/>
            </a:pPr>
            <a:r>
              <a:rPr lang="en-US" sz="2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ρ·∇ = 1,025 · 58 500 = </a:t>
            </a:r>
            <a:r>
              <a:rPr lang="en-US" sz="2000" b="1" dirty="0">
                <a:solidFill>
                  <a:srgbClr val="D14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59 962,5 t</a:t>
            </a:r>
            <a:endParaRPr lang="en-US" sz="2000" dirty="0"/>
          </a:p>
        </p:txBody>
      </p:sp>
      <p:sp>
        <p:nvSpPr>
          <p:cNvPr id="6" name="racional passo 1"/>
          <p:cNvSpPr/>
          <p:nvPr/>
        </p:nvSpPr>
        <p:spPr>
          <a:xfrm>
            <a:off x="548640" y="4526280"/>
            <a:ext cx="667512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lampada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7274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4681728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Racional. </a:t>
            </a:r>
            <a:r>
              <a:rPr lang="en-US" sz="1500" dirty="0">
                <a:solidFill>
                  <a:schemeClr val="bg1"/>
                </a:solidFill>
              </a:rPr>
              <a:t>Só conta o que está abaixo da LDA: cada coluna entra com T − h</a:t>
            </a:r>
            <a:r>
              <a:rPr lang="en-US" sz="1500" baseline="-25000" dirty="0">
                <a:solidFill>
                  <a:schemeClr val="bg1"/>
                </a:solidFill>
              </a:rPr>
              <a:t>p</a:t>
            </a:r>
            <a:r>
              <a:rPr lang="en-US" sz="1500" dirty="0">
                <a:solidFill>
                  <a:schemeClr val="bg1"/>
                </a:solidFill>
              </a:rPr>
              <a:t> = 15 m, não com h</a:t>
            </a:r>
            <a:r>
              <a:rPr lang="en-US" sz="1500" baseline="-25000" dirty="0">
                <a:solidFill>
                  <a:schemeClr val="bg1"/>
                </a:solidFill>
              </a:rPr>
              <a:t>c</a:t>
            </a:r>
            <a:r>
              <a:rPr lang="en-US" sz="1500" dirty="0">
                <a:solidFill>
                  <a:schemeClr val="bg1"/>
                </a:solidFill>
              </a:rPr>
              <a:t>. 77% do volume fica nos pontoons, entre 15 e 30 m de profundidade, onde a pressão de onda já decaiu bastante — é a lógica da semissubmersível.</a:t>
            </a:r>
            <a:endParaRPr lang="en-US" sz="1500" dirty="0"/>
          </a:p>
        </p:txBody>
      </p:sp>
      <p:graphicFrame>
        <p:nvGraphicFramePr>
          <p:cNvPr id="9" name="grafico composicao volume"/>
          <p:cNvGraphicFramePr/>
          <p:nvPr/>
        </p:nvGraphicFramePr>
        <p:xfrm>
          <a:off x="7589520" y="1600200"/>
          <a:ext cx="4069080" cy="461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79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PASSO 2 · CENTRO DE CARENA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KB: média dos centroides ponderada pelo volume</a:t>
            </a:r>
            <a:endParaRPr lang="en-US" sz="3400" dirty="0"/>
          </a:p>
        </p:txBody>
      </p:sp>
      <p:pic>
        <p:nvPicPr>
          <p:cNvPr id="4" name="figura KB" descr="Vista lateral com os centroides Bp, Bc e o centro de carena 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6675120" cy="2851324"/>
          </a:xfrm>
          <a:prstGeom prst="rect">
            <a:avLst/>
          </a:prstGeom>
        </p:spPr>
      </p:pic>
      <p:sp>
        <p:nvSpPr>
          <p:cNvPr id="5" name="formulas passo 2"/>
          <p:cNvSpPr/>
          <p:nvPr/>
        </p:nvSpPr>
        <p:spPr>
          <a:xfrm>
            <a:off x="7543800" y="1600200"/>
            <a:ext cx="411480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772400" y="1810512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 = (∇</a:t>
            </a:r>
            <a:r>
              <a:rPr lang="en-US" sz="1800" baseline="-25000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1800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·kb</a:t>
            </a:r>
            <a:r>
              <a:rPr lang="en-US" sz="1800" baseline="-25000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1800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∇</a:t>
            </a:r>
            <a:r>
              <a:rPr lang="en-US" sz="1800" baseline="-25000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1800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·kb</a:t>
            </a:r>
            <a:r>
              <a:rPr lang="en-US" sz="1800" baseline="-25000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1800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/ ∇</a:t>
            </a:r>
            <a:endParaRPr lang="en-US" sz="1800" dirty="0"/>
          </a:p>
          <a:p>
            <a:pPr marL="0" indent="0">
              <a:spcBef>
                <a:spcPts val="1600"/>
              </a:spcBef>
              <a:buNone/>
            </a:pPr>
            <a:r>
              <a:rPr lang="en-US" sz="17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</a:t>
            </a:r>
            <a:r>
              <a:rPr lang="en-US" sz="17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17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h</a:t>
            </a:r>
            <a:r>
              <a:rPr lang="en-US" sz="17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17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2 = </a:t>
            </a:r>
            <a:r>
              <a:rPr lang="en-US" sz="17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7,5 m</a:t>
            </a:r>
            <a:endParaRPr lang="en-US" sz="18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7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</a:t>
            </a:r>
            <a:r>
              <a:rPr lang="en-US" sz="17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17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h</a:t>
            </a:r>
            <a:r>
              <a:rPr lang="en-US" sz="17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17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(T − h</a:t>
            </a:r>
            <a:r>
              <a:rPr lang="en-US" sz="17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17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)/2 = </a:t>
            </a:r>
            <a:r>
              <a:rPr lang="en-US" sz="17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22,5 m</a:t>
            </a:r>
            <a:endParaRPr lang="en-US" sz="1800" dirty="0"/>
          </a:p>
          <a:p>
            <a:pPr marL="0" indent="0">
              <a:spcBef>
                <a:spcPts val="1600"/>
              </a:spcBef>
              <a:buNone/>
            </a:pPr>
            <a:r>
              <a:rPr lang="en-US" sz="17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 = (45 000·7,5 + 13 500·22,5)</a:t>
            </a:r>
            <a:endParaRPr lang="en-US" sz="1800" dirty="0"/>
          </a:p>
          <a:p>
            <a:pPr marL="0" indent="0">
              <a:buNone/>
            </a:pPr>
            <a:r>
              <a:rPr lang="en-US" sz="2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/ 58 500 = </a:t>
            </a:r>
            <a:r>
              <a:rPr lang="en-US" sz="2000" b="1" dirty="0">
                <a:solidFill>
                  <a:srgbClr val="D14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10,96 m</a:t>
            </a:r>
            <a:endParaRPr lang="en-US" sz="1800" dirty="0"/>
          </a:p>
        </p:txBody>
      </p:sp>
      <p:sp>
        <p:nvSpPr>
          <p:cNvPr id="7" name="conclusao 0"/>
          <p:cNvSpPr/>
          <p:nvPr/>
        </p:nvSpPr>
        <p:spPr>
          <a:xfrm>
            <a:off x="548640" y="4892040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num1"/>
          <p:cNvSpPr/>
          <p:nvPr/>
        </p:nvSpPr>
        <p:spPr>
          <a:xfrm>
            <a:off x="731520" y="50749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3152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07008" y="5056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Momento estático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5138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Soma dos momentos de cada volume em relação à quilha, dividida pelo volume total.</a:t>
            </a:r>
            <a:endParaRPr lang="en-US" sz="1300" dirty="0"/>
          </a:p>
        </p:txBody>
      </p:sp>
      <p:sp>
        <p:nvSpPr>
          <p:cNvPr id="12" name="conclusao 1"/>
          <p:cNvSpPr/>
          <p:nvPr/>
        </p:nvSpPr>
        <p:spPr>
          <a:xfrm>
            <a:off x="4297680" y="4892040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num2"/>
          <p:cNvSpPr/>
          <p:nvPr/>
        </p:nvSpPr>
        <p:spPr>
          <a:xfrm>
            <a:off x="4480560" y="50749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48056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956048" y="5056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B dentro do pontoon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55138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KB = 10,96 m &lt; h</a:t>
            </a:r>
            <a:r>
              <a:rPr lang="en-US" sz="1300" baseline="-25000" dirty="0">
                <a:solidFill>
                  <a:schemeClr val="tx1"/>
                </a:solidFill>
              </a:rPr>
              <a:t>p</a:t>
            </a:r>
            <a:r>
              <a:rPr lang="en-US" sz="1300" dirty="0">
                <a:solidFill>
                  <a:schemeClr val="tx1"/>
                </a:solidFill>
              </a:rPr>
              <a:t> = 15 m: o centro de empuxo fica onde está o volume.</a:t>
            </a:r>
            <a:endParaRPr lang="en-US" sz="1300" dirty="0"/>
          </a:p>
        </p:txBody>
      </p:sp>
      <p:sp>
        <p:nvSpPr>
          <p:cNvPr id="17" name="conclusao 2"/>
          <p:cNvSpPr/>
          <p:nvPr/>
        </p:nvSpPr>
        <p:spPr>
          <a:xfrm>
            <a:off x="8046720" y="4892040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num3"/>
          <p:cNvSpPr/>
          <p:nvPr/>
        </p:nvSpPr>
        <p:spPr>
          <a:xfrm>
            <a:off x="8229600" y="50749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822960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705088" y="5056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Sobe com o calado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55138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Cada metro a mais de T soma 900 m³ acima de 15 m e puxa B para cima.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79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PASSO 3 · RAIO METACÊNTRICO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BM: a estabilidade vem do afastamento das colunas</a:t>
            </a:r>
            <a:endParaRPr lang="en-US" sz="3400" dirty="0"/>
          </a:p>
        </p:txBody>
      </p:sp>
      <p:pic>
        <p:nvPicPr>
          <p:cNvPr id="4" name="plano de flutuacao" descr="Plano de flutuação: 4 seções de coluna afastadas 42,5 m dos eix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4526280" cy="4636031"/>
          </a:xfrm>
          <a:prstGeom prst="rect">
            <a:avLst/>
          </a:prstGeom>
        </p:spPr>
      </p:pic>
      <p:sp>
        <p:nvSpPr>
          <p:cNvPr id="5" name="formulas passo 3"/>
          <p:cNvSpPr/>
          <p:nvPr/>
        </p:nvSpPr>
        <p:spPr>
          <a:xfrm>
            <a:off x="5394960" y="1600200"/>
            <a:ext cx="62636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623560" y="178308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 = I</a:t>
            </a:r>
            <a:r>
              <a:rPr lang="en-US" sz="1800" baseline="-25000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</a:t>
            </a:r>
            <a:r>
              <a:rPr lang="en-US" sz="1800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∇</a:t>
            </a:r>
            <a:endParaRPr lang="en-US" sz="18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6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6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</a:t>
            </a:r>
            <a:r>
              <a:rPr lang="en-US" sz="16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Σ(I</a:t>
            </a:r>
            <a:r>
              <a:rPr lang="en-US" sz="16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próprio</a:t>
            </a:r>
            <a:r>
              <a:rPr lang="en-US" sz="16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A·d</a:t>
            </a:r>
            <a:r>
              <a:rPr lang="en-US" sz="1600" baseline="30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4·[b</a:t>
            </a:r>
            <a:r>
              <a:rPr lang="en-US" sz="16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1600" baseline="30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en-US" sz="16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/12 + b</a:t>
            </a:r>
            <a:r>
              <a:rPr lang="en-US" sz="16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1600" baseline="30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·d</a:t>
            </a:r>
            <a:r>
              <a:rPr lang="en-US" sz="1600" baseline="30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18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6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(L</a:t>
            </a:r>
            <a:r>
              <a:rPr lang="en-US" sz="16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16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b</a:t>
            </a:r>
            <a:r>
              <a:rPr lang="en-US" sz="16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16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)/2 = </a:t>
            </a:r>
            <a:r>
              <a:rPr lang="en-US" sz="16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42,5 m</a:t>
            </a:r>
            <a:endParaRPr lang="en-US" sz="18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6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600" baseline="-25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</a:t>
            </a:r>
            <a:r>
              <a:rPr lang="en-US" sz="16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4·(4 218,75 + 406 406,25) = </a:t>
            </a:r>
            <a:r>
              <a:rPr lang="en-US" sz="16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1 642 500 m</a:t>
            </a:r>
            <a:r>
              <a:rPr lang="en-US" sz="1600" b="1" baseline="300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800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 = 1 642 500 / 58 500 = </a:t>
            </a:r>
            <a:r>
              <a:rPr lang="en-US" sz="1800" b="1" dirty="0">
                <a:solidFill>
                  <a:srgbClr val="D14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28,08 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4663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55321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de I</a:t>
            </a:r>
            <a:r>
              <a:rPr lang="en-US" sz="1300" baseline="-25000" dirty="0">
                <a:solidFill>
                  <a:schemeClr val="tx1"/>
                </a:solidFill>
              </a:rPr>
              <a:t>WP</a:t>
            </a:r>
            <a:r>
              <a:rPr lang="en-US" sz="1300" dirty="0">
                <a:solidFill>
                  <a:schemeClr val="tx1"/>
                </a:solidFill>
              </a:rPr>
              <a:t> vem do termo de Steiner A·d</a:t>
            </a:r>
            <a:r>
              <a:rPr lang="en-US" sz="1300" baseline="30000" dirty="0">
                <a:solidFill>
                  <a:schemeClr val="tx1"/>
                </a:solidFill>
              </a:rPr>
              <a:t>2</a:t>
            </a:r>
            <a:r>
              <a:rPr lang="en-US" sz="1300" dirty="0">
                <a:solidFill>
                  <a:schemeClr val="tx1"/>
                </a:solidFill>
              </a:rPr>
              <a:t>; a inércia própria das colunas é só 1%</a:t>
            </a:r>
            <a:endParaRPr lang="en-US" sz="1300" dirty="0"/>
          </a:p>
        </p:txBody>
      </p:sp>
      <p:sp>
        <p:nvSpPr>
          <p:cNvPr id="9" name="nota transversal"/>
          <p:cNvSpPr/>
          <p:nvPr/>
        </p:nvSpPr>
        <p:spPr>
          <a:xfrm>
            <a:off x="8183880" y="46634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366760" y="4773168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Roll = pitch aqui. </a:t>
            </a:r>
            <a:r>
              <a:rPr lang="en-US" sz="1300" dirty="0">
                <a:solidFill>
                  <a:schemeClr val="bg1"/>
                </a:solidFill>
              </a:rPr>
              <a:t>Planta quadrada e b</a:t>
            </a:r>
            <a:r>
              <a:rPr lang="en-US" sz="1300" baseline="-25000" dirty="0">
                <a:solidFill>
                  <a:schemeClr val="bg1"/>
                </a:solidFill>
              </a:rPr>
              <a:t>c</a:t>
            </a:r>
            <a:r>
              <a:rPr lang="en-US" sz="1300" dirty="0">
                <a:solidFill>
                  <a:schemeClr val="bg1"/>
                </a:solidFill>
              </a:rPr>
              <a:t> = b</a:t>
            </a:r>
            <a:r>
              <a:rPr lang="en-US" sz="1300" baseline="-25000" dirty="0">
                <a:solidFill>
                  <a:schemeClr val="bg1"/>
                </a:solidFill>
              </a:rPr>
              <a:t>p</a:t>
            </a:r>
            <a:r>
              <a:rPr lang="en-US" sz="1300" dirty="0">
                <a:solidFill>
                  <a:schemeClr val="bg1"/>
                </a:solidFill>
              </a:rPr>
              <a:t> dão d</a:t>
            </a:r>
            <a:r>
              <a:rPr lang="en-US" sz="1300" baseline="-25000" dirty="0">
                <a:solidFill>
                  <a:schemeClr val="bg1"/>
                </a:solidFill>
              </a:rPr>
              <a:t>T</a:t>
            </a:r>
            <a:r>
              <a:rPr lang="en-US" sz="1300" dirty="0">
                <a:solidFill>
                  <a:schemeClr val="bg1"/>
                </a:solidFill>
              </a:rPr>
              <a:t> = (L</a:t>
            </a:r>
            <a:r>
              <a:rPr lang="en-US" sz="1300" baseline="-25000" dirty="0">
                <a:solidFill>
                  <a:schemeClr val="bg1"/>
                </a:solidFill>
              </a:rPr>
              <a:t>p</a:t>
            </a:r>
            <a:r>
              <a:rPr lang="en-US" sz="1300" dirty="0">
                <a:solidFill>
                  <a:schemeClr val="bg1"/>
                </a:solidFill>
              </a:rPr>
              <a:t> − b</a:t>
            </a:r>
            <a:r>
              <a:rPr lang="en-US" sz="1300" baseline="-25000" dirty="0">
                <a:solidFill>
                  <a:schemeClr val="bg1"/>
                </a:solidFill>
              </a:rPr>
              <a:t>p</a:t>
            </a:r>
            <a:r>
              <a:rPr lang="en-US" sz="1300" dirty="0">
                <a:solidFill>
                  <a:schemeClr val="bg1"/>
                </a:solidFill>
              </a:rPr>
              <a:t>)/2 = d</a:t>
            </a:r>
            <a:r>
              <a:rPr lang="en-US" sz="1300" baseline="-25000" dirty="0">
                <a:solidFill>
                  <a:schemeClr val="bg1"/>
                </a:solidFill>
              </a:rPr>
              <a:t>L</a:t>
            </a:r>
            <a:r>
              <a:rPr lang="en-US" sz="1300" dirty="0">
                <a:solidFill>
                  <a:schemeClr val="bg1"/>
                </a:solidFill>
              </a:rPr>
              <a:t>, logo BM</a:t>
            </a:r>
            <a:r>
              <a:rPr lang="en-US" sz="1300" baseline="-25000" dirty="0">
                <a:solidFill>
                  <a:schemeClr val="bg1"/>
                </a:solidFill>
              </a:rPr>
              <a:t>T</a:t>
            </a:r>
            <a:r>
              <a:rPr lang="en-US" sz="1300" dirty="0">
                <a:solidFill>
                  <a:schemeClr val="bg1"/>
                </a:solidFill>
              </a:rPr>
              <a:t> = BM</a:t>
            </a:r>
            <a:r>
              <a:rPr lang="en-US" sz="1300" baseline="-25000" dirty="0">
                <a:solidFill>
                  <a:schemeClr val="bg1"/>
                </a:solidFill>
              </a:rPr>
              <a:t>L</a:t>
            </a:r>
            <a:r>
              <a:rPr lang="en-US" sz="1300" dirty="0">
                <a:solidFill>
                  <a:schemeClr val="bg1"/>
                </a:solidFill>
              </a:rPr>
              <a:t>. Se b</a:t>
            </a:r>
            <a:r>
              <a:rPr lang="en-US" sz="1300" baseline="-25000" dirty="0">
                <a:solidFill>
                  <a:schemeClr val="bg1"/>
                </a:solidFill>
              </a:rPr>
              <a:t>c</a:t>
            </a:r>
            <a:r>
              <a:rPr lang="en-US" sz="1300" dirty="0">
                <a:solidFill>
                  <a:schemeClr val="bg1"/>
                </a:solidFill>
              </a:rPr>
              <a:t> &lt; b</a:t>
            </a:r>
            <a:r>
              <a:rPr lang="en-US" sz="1300" baseline="-25000" dirty="0">
                <a:solidFill>
                  <a:schemeClr val="bg1"/>
                </a:solidFill>
              </a:rPr>
              <a:t>p</a:t>
            </a:r>
            <a:r>
              <a:rPr lang="en-US" sz="1300" dirty="0">
                <a:solidFill>
                  <a:schemeClr val="bg1"/>
                </a:solidFill>
              </a:rPr>
              <a:t>, as duas direções devem ser calculadas separadamente.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79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PASSO 4 · RESULTADOS E VERIFICAÇÃO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 = KB + BM, e como sabemos que está certo</a:t>
            </a:r>
            <a:endParaRPr lang="en-US" sz="3400" dirty="0"/>
          </a:p>
        </p:txBody>
      </p:sp>
      <p:sp>
        <p:nvSpPr>
          <p:cNvPr id="4" name="resultado ∇"/>
          <p:cNvSpPr/>
          <p:nvPr/>
        </p:nvSpPr>
        <p:spPr>
          <a:xfrm>
            <a:off x="548640" y="1600200"/>
            <a:ext cx="2066544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∇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58 500</a:t>
            </a:r>
            <a:r>
              <a:rPr lang="en-US" sz="1500" dirty="0">
                <a:solidFill>
                  <a:schemeClr val="tx2"/>
                </a:solidFill>
              </a:rPr>
              <a:t> m³</a:t>
            </a:r>
            <a:endParaRPr lang="en-US" sz="2800" dirty="0"/>
          </a:p>
        </p:txBody>
      </p:sp>
      <p:sp>
        <p:nvSpPr>
          <p:cNvPr id="7" name="resultado Δ"/>
          <p:cNvSpPr/>
          <p:nvPr/>
        </p:nvSpPr>
        <p:spPr>
          <a:xfrm>
            <a:off x="2798064" y="1600200"/>
            <a:ext cx="2066544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980944" y="169164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Δ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0116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59 962,5</a:t>
            </a:r>
            <a:r>
              <a:rPr lang="en-US" sz="1500" dirty="0">
                <a:solidFill>
                  <a:schemeClr val="tx2"/>
                </a:solidFill>
              </a:rPr>
              <a:t> t</a:t>
            </a:r>
            <a:endParaRPr lang="en-US" sz="2800" dirty="0"/>
          </a:p>
        </p:txBody>
      </p:sp>
      <p:sp>
        <p:nvSpPr>
          <p:cNvPr id="10" name="resultado KB"/>
          <p:cNvSpPr/>
          <p:nvPr/>
        </p:nvSpPr>
        <p:spPr>
          <a:xfrm>
            <a:off x="5047488" y="1600200"/>
            <a:ext cx="2066544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230368" y="169164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30368" y="20116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10,96</a:t>
            </a:r>
            <a:r>
              <a:rPr lang="en-US" sz="1500" dirty="0">
                <a:solidFill>
                  <a:schemeClr val="tx2"/>
                </a:solidFill>
              </a:rPr>
              <a:t> m</a:t>
            </a:r>
            <a:endParaRPr lang="en-US" sz="2800" dirty="0"/>
          </a:p>
        </p:txBody>
      </p:sp>
      <p:sp>
        <p:nvSpPr>
          <p:cNvPr id="13" name="resultado BM"/>
          <p:cNvSpPr/>
          <p:nvPr/>
        </p:nvSpPr>
        <p:spPr>
          <a:xfrm>
            <a:off x="7296912" y="1600200"/>
            <a:ext cx="2066544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479792" y="169164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79792" y="20116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28,08</a:t>
            </a:r>
            <a:r>
              <a:rPr lang="en-US" sz="1500" dirty="0">
                <a:solidFill>
                  <a:schemeClr val="tx2"/>
                </a:solidFill>
              </a:rPr>
              <a:t> m</a:t>
            </a:r>
            <a:endParaRPr lang="en-US" sz="2800" dirty="0"/>
          </a:p>
        </p:txBody>
      </p:sp>
      <p:sp>
        <p:nvSpPr>
          <p:cNvPr id="16" name="resultado KM"/>
          <p:cNvSpPr/>
          <p:nvPr/>
        </p:nvSpPr>
        <p:spPr>
          <a:xfrm>
            <a:off x="9546336" y="1600200"/>
            <a:ext cx="2066544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729216" y="169164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KM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729216" y="20116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39,04</a:t>
            </a:r>
            <a:r>
              <a:rPr lang="en-US" sz="1500" dirty="0">
                <a:solidFill>
                  <a:schemeClr val="bg1"/>
                </a:solidFill>
              </a:rPr>
              <a:t> m</a:t>
            </a:r>
            <a:endParaRPr lang="en-US" sz="2800" dirty="0"/>
          </a:p>
        </p:txBody>
      </p:sp>
      <p:pic>
        <p:nvPicPr>
          <p:cNvPr id="19" name="regua K B M" descr="Régua vertical com K, B, linha d'água e M em escal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71800"/>
            <a:ext cx="5852160" cy="3124417"/>
          </a:xfrm>
          <a:prstGeom prst="rect">
            <a:avLst/>
          </a:prstGeom>
        </p:spPr>
      </p:pic>
      <p:sp>
        <p:nvSpPr>
          <p:cNvPr id="20" name="verificacao"/>
          <p:cNvSpPr/>
          <p:nvPr/>
        </p:nvSpPr>
        <p:spPr>
          <a:xfrm>
            <a:off x="6720840" y="2971800"/>
            <a:ext cx="49377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949440" y="30906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Checagens</a:t>
            </a:r>
            <a:endParaRPr lang="en-US" sz="1800" dirty="0"/>
          </a:p>
        </p:txBody>
      </p:sp>
      <p:pic>
        <p:nvPicPr>
          <p:cNvPr id="22" name="check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3657600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333488" y="35844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Conta à mão reproduz a saída do notebook</a:t>
            </a:r>
            <a:endParaRPr lang="en-US" sz="1400" dirty="0"/>
          </a:p>
        </p:txBody>
      </p:sp>
      <p:pic>
        <p:nvPicPr>
          <p:cNvPr id="24" name="check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4160520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333488" y="40873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Restrições: b</a:t>
            </a:r>
            <a:r>
              <a:rPr lang="en-US" sz="1400" baseline="-25000" dirty="0">
                <a:solidFill>
                  <a:schemeClr val="tx1"/>
                </a:solidFill>
              </a:rPr>
              <a:t>c</a:t>
            </a:r>
            <a:r>
              <a:rPr lang="en-US" sz="1400" dirty="0">
                <a:solidFill>
                  <a:schemeClr val="tx1"/>
                </a:solidFill>
              </a:rPr>
              <a:t> ≤ b</a:t>
            </a:r>
            <a:r>
              <a:rPr lang="en-US" sz="1400" baseline="-25000" dirty="0">
                <a:solidFill>
                  <a:schemeClr val="tx1"/>
                </a:solidFill>
              </a:rPr>
              <a:t>p</a:t>
            </a:r>
            <a:r>
              <a:rPr lang="en-US" sz="1400" dirty="0">
                <a:solidFill>
                  <a:schemeClr val="tx1"/>
                </a:solidFill>
              </a:rPr>
              <a:t>  e  h</a:t>
            </a:r>
            <a:r>
              <a:rPr lang="en-US" sz="1400" baseline="-25000" dirty="0">
                <a:solidFill>
                  <a:schemeClr val="tx1"/>
                </a:solidFill>
              </a:rPr>
              <a:t>p</a:t>
            </a:r>
            <a:r>
              <a:rPr lang="en-US" sz="1400" dirty="0">
                <a:solidFill>
                  <a:schemeClr val="tx1"/>
                </a:solidFill>
              </a:rPr>
              <a:t> &lt; T ≤ h</a:t>
            </a:r>
            <a:r>
              <a:rPr lang="en-US" sz="1400" baseline="-25000" dirty="0">
                <a:solidFill>
                  <a:schemeClr val="tx1"/>
                </a:solidFill>
              </a:rPr>
              <a:t>p</a:t>
            </a:r>
            <a:r>
              <a:rPr lang="en-US" sz="1400" dirty="0">
                <a:solidFill>
                  <a:schemeClr val="tx1"/>
                </a:solidFill>
              </a:rPr>
              <a:t> + h</a:t>
            </a:r>
            <a:r>
              <a:rPr lang="en-US" sz="1400" baseline="-25000" dirty="0">
                <a:solidFill>
                  <a:schemeClr val="tx1"/>
                </a:solidFill>
              </a:rPr>
              <a:t>c</a:t>
            </a:r>
            <a:endParaRPr lang="en-US" sz="1400" dirty="0"/>
          </a:p>
        </p:txBody>
      </p:sp>
      <p:pic>
        <p:nvPicPr>
          <p:cNvPr id="26" name="check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4663440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333488" y="45902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Borda livre h</a:t>
            </a:r>
            <a:r>
              <a:rPr lang="en-US" sz="1400" baseline="-25000" dirty="0">
                <a:solidFill>
                  <a:schemeClr val="tx1"/>
                </a:solidFill>
              </a:rPr>
              <a:t>p</a:t>
            </a:r>
            <a:r>
              <a:rPr lang="en-US" sz="1400" dirty="0">
                <a:solidFill>
                  <a:schemeClr val="tx1"/>
                </a:solidFill>
              </a:rPr>
              <a:t> + h</a:t>
            </a:r>
            <a:r>
              <a:rPr lang="en-US" sz="1400" baseline="-25000" dirty="0">
                <a:solidFill>
                  <a:schemeClr val="tx1"/>
                </a:solidFill>
              </a:rPr>
              <a:t>c</a:t>
            </a:r>
            <a:r>
              <a:rPr lang="en-US" sz="1400" dirty="0">
                <a:solidFill>
                  <a:schemeClr val="tx1"/>
                </a:solidFill>
              </a:rPr>
              <a:t> − T = 30 m</a:t>
            </a:r>
            <a:endParaRPr lang="en-US" sz="1400" dirty="0"/>
          </a:p>
        </p:txBody>
      </p:sp>
      <p:pic>
        <p:nvPicPr>
          <p:cNvPr id="28" name="check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516636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333488" y="50932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Coerência: KB &lt; T &lt; KM (M acima da LDA)</a:t>
            </a:r>
            <a:endParaRPr lang="en-US" sz="1400" dirty="0"/>
          </a:p>
        </p:txBody>
      </p:sp>
      <p:pic>
        <p:nvPicPr>
          <p:cNvPr id="30" name="check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8" y="5669280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333488" y="55961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KM não é GM: GM = KM − KG exige o KG, fora do escopo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79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O MODELO EM USO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Sensibilidade ao calado e conclusões</a:t>
            </a:r>
            <a:endParaRPr lang="en-US" sz="3400" dirty="0"/>
          </a:p>
        </p:txBody>
      </p:sp>
      <p:sp>
        <p:nvSpPr>
          <p:cNvPr id="4" name="card grafico"/>
          <p:cNvSpPr/>
          <p:nvPr/>
        </p:nvSpPr>
        <p:spPr>
          <a:xfrm>
            <a:off x="548640" y="1600200"/>
            <a:ext cx="6812280" cy="4617720"/>
          </a:xfrm>
          <a:prstGeom prst="roundRect">
            <a:avLst>
              <a:gd name="adj" fmla="val 237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5" name="grafico sensibilidade calado"/>
          <p:cNvGraphicFramePr/>
          <p:nvPr/>
        </p:nvGraphicFramePr>
        <p:xfrm>
          <a:off x="685800" y="1691640"/>
          <a:ext cx="65379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" y="574243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1"/>
                </a:solidFill>
              </a:rPr>
              <a:t>Projeto em T = 30 m. KM é mínimo onde cruza a reta T: T* ≈ 38,5 m (KM ≈ 38,5 m).</a:t>
            </a:r>
            <a:endParaRPr lang="en-US" sz="1300" dirty="0"/>
          </a:p>
        </p:txBody>
      </p:sp>
      <p:sp>
        <p:nvSpPr>
          <p:cNvPr id="7" name="conclusoes"/>
          <p:cNvSpPr/>
          <p:nvPr/>
        </p:nvSpPr>
        <p:spPr>
          <a:xfrm>
            <a:off x="7635240" y="1600200"/>
            <a:ext cx="4023360" cy="461772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86384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2286000"/>
            <a:ext cx="3611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500" b="1" dirty="0">
                <a:solidFill>
                  <a:schemeClr val="accent2"/>
                </a:solidFill>
              </a:rPr>
              <a:t>Semi = pouca área na LDA (900 m²) e volume profundo:</a:t>
            </a:r>
            <a:r>
              <a:rPr lang="en-US" sz="1500" dirty="0">
                <a:solidFill>
                  <a:schemeClr val="bg1"/>
                </a:solidFill>
              </a:rPr>
              <a:t> menos excitação de onda, estabilidade pelo afastamento das colunas.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Mais calado:</a:t>
            </a:r>
            <a:r>
              <a:rPr lang="en-US" sz="1500" dirty="0">
                <a:solidFill>
                  <a:schemeClr val="bg1"/>
                </a:solidFill>
              </a:rPr>
              <a:t> KB sobe e BM cai (I</a:t>
            </a:r>
            <a:r>
              <a:rPr lang="en-US" sz="1500" baseline="-25000" dirty="0">
                <a:solidFill>
                  <a:schemeClr val="bg1"/>
                </a:solidFill>
              </a:rPr>
              <a:t>WP</a:t>
            </a:r>
            <a:r>
              <a:rPr lang="en-US" sz="1500" dirty="0">
                <a:solidFill>
                  <a:schemeClr val="bg1"/>
                </a:solidFill>
              </a:rPr>
              <a:t> fixo, ∇ cresce). dKM/dT = (A</a:t>
            </a:r>
            <a:r>
              <a:rPr lang="en-US" sz="1500" baseline="-25000" dirty="0">
                <a:solidFill>
                  <a:schemeClr val="bg1"/>
                </a:solidFill>
              </a:rPr>
              <a:t>WP</a:t>
            </a:r>
            <a:r>
              <a:rPr lang="en-US" sz="1500" dirty="0">
                <a:solidFill>
                  <a:schemeClr val="bg1"/>
                </a:solidFill>
              </a:rPr>
              <a:t>/∇)(T − KM) → KM mínimo quando M toca a LDA.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Alavancas de projeto:</a:t>
            </a:r>
            <a:r>
              <a:rPr lang="en-US" sz="1500" dirty="0">
                <a:solidFill>
                  <a:schemeClr val="bg1"/>
                </a:solidFill>
              </a:rPr>
              <a:t> espaçamento e lado das colunas, pois I</a:t>
            </a:r>
            <a:r>
              <a:rPr lang="en-US" sz="1500" baseline="-25000" dirty="0">
                <a:solidFill>
                  <a:schemeClr val="bg1"/>
                </a:solidFill>
              </a:rPr>
              <a:t>WP</a:t>
            </a:r>
            <a:r>
              <a:rPr lang="en-US" sz="1500" dirty="0">
                <a:solidFill>
                  <a:schemeClr val="bg1"/>
                </a:solidFill>
              </a:rPr>
              <a:t> ∝ b</a:t>
            </a:r>
            <a:r>
              <a:rPr lang="en-US" sz="1500" baseline="-25000" dirty="0">
                <a:solidFill>
                  <a:schemeClr val="bg1"/>
                </a:solidFill>
              </a:rPr>
              <a:t>c</a:t>
            </a:r>
            <a:r>
              <a:rPr lang="en-US" sz="1500" baseline="30000" dirty="0">
                <a:solidFill>
                  <a:schemeClr val="bg1"/>
                </a:solidFill>
              </a:rPr>
              <a:t>2</a:t>
            </a:r>
            <a:r>
              <a:rPr lang="en-US" sz="1500" dirty="0">
                <a:solidFill>
                  <a:schemeClr val="bg1"/>
                </a:solidFill>
              </a:rPr>
              <a:t>·d</a:t>
            </a:r>
            <a:r>
              <a:rPr lang="en-US" sz="1500" baseline="30000" dirty="0">
                <a:solidFill>
                  <a:schemeClr val="bg1"/>
                </a:solidFill>
              </a:rPr>
              <a:t>2</a:t>
            </a:r>
            <a:r>
              <a:rPr lang="en-US" sz="1500" dirty="0">
                <a:solidFill>
                  <a:schemeClr val="bg1"/>
                </a:solidFill>
              </a:rPr>
              <a:t>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Próximo passo:</a:t>
            </a:r>
            <a:r>
              <a:rPr lang="en-US" sz="1500" dirty="0">
                <a:solidFill>
                  <a:schemeClr val="bg1"/>
                </a:solidFill>
              </a:rPr>
              <a:t> KG → GM, curva GZ e condição de trânsito (T &lt; h</a:t>
            </a:r>
            <a:r>
              <a:rPr lang="en-US" sz="1500" baseline="-25000" dirty="0">
                <a:solidFill>
                  <a:schemeClr val="bg1"/>
                </a:solidFill>
              </a:rPr>
              <a:t>p</a:t>
            </a:r>
            <a:r>
              <a:rPr lang="en-US" sz="1500" dirty="0">
                <a:solidFill>
                  <a:schemeClr val="bg1"/>
                </a:solidFill>
              </a:rPr>
              <a:t>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79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drostatica Semissub">
  <a:themeElements>
    <a:clrScheme name="Hidrostatica Semissub">
      <a:dk1>
        <a:srgbClr val="1E2933"/>
      </a:dk1>
      <a:lt1>
        <a:srgbClr val="FFFFFF"/>
      </a:lt1>
      <a:dk2>
        <a:srgbClr val="1F3B57"/>
      </a:dk2>
      <a:lt2>
        <a:srgbClr val="EEF4F7"/>
      </a:lt2>
      <a:accent1>
        <a:srgbClr val="2A9D8F"/>
      </a:accent1>
      <a:accent2>
        <a:srgbClr val="E9A23B"/>
      </a:accent2>
      <a:accent3>
        <a:srgbClr val="D1495B"/>
      </a:accent3>
      <a:accent4>
        <a:srgbClr val="2C5376"/>
      </a:accent4>
      <a:accent5>
        <a:srgbClr val="3C8DBC"/>
      </a:accent5>
      <a:accent6>
        <a:srgbClr val="7A8793"/>
      </a:accent6>
      <a:hlink>
        <a:srgbClr val="2A9D8F"/>
      </a:hlink>
      <a:folHlink>
        <a:srgbClr val="2C5376"/>
      </a:folHlink>
    </a:clrScheme>
    <a:fontScheme name="Hidrostatica Semissu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1746</Words>
  <Application>Microsoft Office PowerPoint</Application>
  <PresentationFormat>Widescreen</PresentationFormat>
  <Paragraphs>151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Hidrostatica Semissub</vt:lpstr>
      <vt:lpstr>Modelo paramétrico de propriedades hidrostáticas</vt:lpstr>
      <vt:lpstr>O problema: 6 dimensões definem a hidrostática</vt:lpstr>
      <vt:lpstr>Uma função, quatro etapas encadeadas</vt:lpstr>
      <vt:lpstr>Uma função, quatro etapas encadeadas</vt:lpstr>
      <vt:lpstr>∇ e Δ: o empuxo está nos pontoons</vt:lpstr>
      <vt:lpstr>KB: média dos centroides ponderada pelo volume</vt:lpstr>
      <vt:lpstr>BM: a estabilidade vem do afastamento das colunas</vt:lpstr>
      <vt:lpstr>KM = KB + BM, e como sabemos que está certo</vt:lpstr>
      <vt:lpstr>Sensibilidade ao calado e conclusões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paramétrico de propriedades hidrostáticas</dc:title>
  <dc:subject>PptxGenJS Presentation</dc:subject>
  <dc:creator>Eduardo Bicca, João Pedro Boreli e Taumanni</dc:creator>
  <cp:lastModifiedBy>Eduardo Bicca</cp:lastModifiedBy>
  <cp:revision>1</cp:revision>
  <dcterms:created xsi:type="dcterms:W3CDTF">2026-10-28T13:56:48Z</dcterms:created>
  <dcterms:modified xsi:type="dcterms:W3CDTF">2026-10-28T14:11:52Z</dcterms:modified>
</cp:coreProperties>
</file>